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media/image10.svg" ContentType="image/sv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</p:sldMasterIdLst>
  <p:notesMasterIdLst>
    <p:notesMasterId r:id="rId22"/>
  </p:notesMasterIdLst>
  <p:handoutMasterIdLst>
    <p:handoutMasterId r:id="rId23"/>
  </p:handoutMasterIdLst>
  <p:sldIdLst>
    <p:sldId id="256" r:id="rId4"/>
    <p:sldId id="262" r:id="rId5"/>
    <p:sldId id="267" r:id="rId6"/>
    <p:sldId id="289" r:id="rId7"/>
    <p:sldId id="261" r:id="rId8"/>
    <p:sldId id="259" r:id="rId9"/>
    <p:sldId id="295" r:id="rId10"/>
    <p:sldId id="296" r:id="rId11"/>
    <p:sldId id="263" r:id="rId12"/>
    <p:sldId id="264" r:id="rId13"/>
    <p:sldId id="290" r:id="rId14"/>
    <p:sldId id="293" r:id="rId15"/>
    <p:sldId id="291" r:id="rId16"/>
    <p:sldId id="294" r:id="rId17"/>
    <p:sldId id="292" r:id="rId18"/>
    <p:sldId id="266" r:id="rId19"/>
    <p:sldId id="258" r:id="rId20"/>
    <p:sldId id="269" r:id="rId21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97B2"/>
    <a:srgbClr val="004475"/>
    <a:srgbClr val="1C5984"/>
    <a:srgbClr val="EEF3F8"/>
    <a:srgbClr val="396E94"/>
    <a:srgbClr val="C6D5E0"/>
    <a:srgbClr val="FFFFFF"/>
    <a:srgbClr val="68717B"/>
    <a:srgbClr val="5582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5546" autoAdjust="0"/>
  </p:normalViewPr>
  <p:slideViewPr>
    <p:cSldViewPr snapToGrid="0">
      <p:cViewPr varScale="1">
        <p:scale>
          <a:sx n="41" d="100"/>
          <a:sy n="41" d="100"/>
        </p:scale>
        <p:origin x="56" y="1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5196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9529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D8346F9-539A-4B4A-B199-195FE6DE160C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DC1F-BF1C-412A-9F9D-C2D891B95CD5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FA764-A477-476E-9527-CF58501B89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DC1F-BF1C-412A-9F9D-C2D891B95CD5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FA764-A477-476E-9527-CF58501B89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05ADC1F-BF1C-412A-9F9D-C2D891B95CD5}" type="datetimeFigureOut">
              <a:rPr lang="zh-CN" altLang="en-US" smtClean="0"/>
              <a:pPr/>
              <a:t>2026/1/13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0BFA764-A477-476E-9527-CF58501B899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05ADC1F-BF1C-412A-9F9D-C2D891B95CD5}" type="datetimeFigureOut">
              <a:rPr lang="zh-CN" altLang="en-US" smtClean="0"/>
              <a:pPr/>
              <a:t>2026/1/13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0BFA764-A477-476E-9527-CF58501B899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17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792260">
            <a:off x="3021330" y="1728949"/>
            <a:ext cx="8300085" cy="656463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550671" y="-305268"/>
            <a:ext cx="6483985" cy="52546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659368" y="594310"/>
            <a:ext cx="864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latin typeface="Agency FB" panose="020B05030202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200" dirty="0">
              <a:latin typeface="Agency FB" panose="020B05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9"/>
          <p:cNvSpPr>
            <a:spLocks noChangeArrowheads="1"/>
          </p:cNvSpPr>
          <p:nvPr/>
        </p:nvSpPr>
        <p:spPr bwMode="auto">
          <a:xfrm>
            <a:off x="4415246" y="4488045"/>
            <a:ext cx="79930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800" kern="0" spc="500" dirty="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  <a:sym typeface="汉仪细等线简" panose="00020600040101010101" pitchFamily="1" charset="-122"/>
              </a:rPr>
              <a:t>——</a:t>
            </a:r>
            <a:r>
              <a:rPr lang="zh-CN" altLang="en-US" sz="2800" kern="0" spc="5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  <a:sym typeface="汉仪细等线简" panose="00020600040101010101" pitchFamily="1" charset="-122"/>
              </a:rPr>
              <a:t>基于开源数据生态的多指标分析方法</a:t>
            </a:r>
          </a:p>
        </p:txBody>
      </p:sp>
      <p:sp>
        <p:nvSpPr>
          <p:cNvPr id="9" name="2"/>
          <p:cNvSpPr/>
          <p:nvPr>
            <p:custDataLst>
              <p:tags r:id="rId1"/>
            </p:custDataLst>
          </p:nvPr>
        </p:nvSpPr>
        <p:spPr>
          <a:xfrm>
            <a:off x="-9418746" y="2154188"/>
            <a:ext cx="20942453" cy="175432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17000" b="1">
                <a:solidFill>
                  <a:srgbClr val="FFFFFF"/>
                </a:solidFill>
                <a:latin typeface="Montserrat Semi"/>
                <a:ea typeface="Montserrat Semi"/>
                <a:cs typeface="Montserrat Semi"/>
                <a:sym typeface="Montserrat Semi"/>
              </a:defRPr>
            </a:lvl1pPr>
          </a:lstStyle>
          <a:p>
            <a:pPr algn="r"/>
            <a:r>
              <a:rPr lang="zh-CN" altLang="en-US" sz="5400" kern="0" spc="700" dirty="0">
                <a:solidFill>
                  <a:schemeClr val="tx1"/>
                </a:solidFill>
                <a:latin typeface="思源宋体 CN Heavy" pitchFamily="18" charset="-122"/>
                <a:ea typeface="思源宋体 CN Heavy" pitchFamily="18" charset="-122"/>
              </a:rPr>
              <a:t>基于 </a:t>
            </a:r>
            <a:r>
              <a:rPr lang="en-US" sz="5400" kern="0" spc="700" dirty="0" err="1">
                <a:solidFill>
                  <a:schemeClr val="tx1"/>
                </a:solidFill>
                <a:latin typeface="思源宋体 CN Heavy" pitchFamily="18" charset="-122"/>
                <a:ea typeface="思源宋体 CN Heavy" pitchFamily="18" charset="-122"/>
              </a:rPr>
              <a:t>OpenDigger</a:t>
            </a:r>
            <a:r>
              <a:rPr lang="en-US" sz="5400" kern="0" spc="700" dirty="0">
                <a:solidFill>
                  <a:schemeClr val="tx1"/>
                </a:solidFill>
                <a:latin typeface="思源宋体 CN Heavy" pitchFamily="18" charset="-122"/>
                <a:ea typeface="思源宋体 CN Heavy" pitchFamily="18" charset="-122"/>
              </a:rPr>
              <a:t> </a:t>
            </a:r>
            <a:r>
              <a:rPr lang="zh-CN" altLang="en-US" sz="5400" kern="0" spc="700" dirty="0">
                <a:solidFill>
                  <a:schemeClr val="tx1"/>
                </a:solidFill>
                <a:latin typeface="思源宋体 CN Heavy" pitchFamily="18" charset="-122"/>
                <a:ea typeface="思源宋体 CN Heavy" pitchFamily="18" charset="-122"/>
              </a:rPr>
              <a:t>的开源项目</a:t>
            </a:r>
            <a:endParaRPr lang="en-US" altLang="zh-CN" sz="5400" kern="0" spc="700" dirty="0">
              <a:solidFill>
                <a:schemeClr val="tx1"/>
              </a:solidFill>
              <a:latin typeface="思源宋体 CN Heavy" pitchFamily="18" charset="-122"/>
              <a:ea typeface="思源宋体 CN Heavy" pitchFamily="18" charset="-122"/>
            </a:endParaRPr>
          </a:p>
          <a:p>
            <a:pPr algn="r"/>
            <a:r>
              <a:rPr lang="zh-CN" altLang="en-US" sz="5400" kern="0" spc="700" dirty="0">
                <a:solidFill>
                  <a:schemeClr val="tx1"/>
                </a:solidFill>
                <a:latin typeface="思源宋体 CN Heavy" pitchFamily="18" charset="-122"/>
                <a:ea typeface="思源宋体 CN Heavy" pitchFamily="18" charset="-122"/>
              </a:rPr>
              <a:t>健康度评估与可视化</a:t>
            </a:r>
            <a:endParaRPr lang="en-US" sz="5400" kern="0" spc="700" dirty="0">
              <a:solidFill>
                <a:schemeClr val="tx1"/>
              </a:solidFill>
              <a:uFillTx/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10" name="1"/>
          <p:cNvSpPr/>
          <p:nvPr>
            <p:custDataLst>
              <p:tags r:id="rId2"/>
            </p:custDataLst>
          </p:nvPr>
        </p:nvSpPr>
        <p:spPr>
          <a:xfrm flipH="1">
            <a:off x="4650377" y="5341383"/>
            <a:ext cx="3605348" cy="653192"/>
          </a:xfrm>
          <a:prstGeom prst="rect">
            <a:avLst/>
          </a:prstGeom>
          <a:ln w="12700">
            <a:miter lim="400000"/>
          </a:ln>
        </p:spPr>
        <p:txBody>
          <a:bodyPr wrap="square" lIns="108744" tIns="108744" rIns="108744" bIns="108744">
            <a:spAutoFit/>
          </a:bodyPr>
          <a:lstStyle>
            <a:lvl1pPr algn="ctr" defTabSz="1087755">
              <a:lnSpc>
                <a:spcPts val="4000"/>
              </a:lnSpc>
              <a:spcBef>
                <a:spcPts val="500"/>
              </a:spcBef>
              <a:defRPr sz="2200">
                <a:solidFill>
                  <a:srgbClr val="FFFFFF"/>
                </a:solidFill>
                <a:latin typeface="Poppins Medium" panose="00000600000000000000"/>
                <a:ea typeface="Poppins Medium" panose="00000600000000000000"/>
                <a:cs typeface="Poppins Medium" panose="00000600000000000000"/>
                <a:sym typeface="Poppins Medium" panose="00000600000000000000"/>
              </a:defRPr>
            </a:lvl1pPr>
          </a:lstStyle>
          <a:p>
            <a:pPr algn="r"/>
            <a:r>
              <a:rPr lang="zh-CN" altLang="en-US" sz="1600" kern="0" spc="80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参赛小组：捏爆这个橘子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形 4">
            <a:extLst>
              <a:ext uri="{FF2B5EF4-FFF2-40B4-BE49-F238E27FC236}">
                <a16:creationId xmlns:a16="http://schemas.microsoft.com/office/drawing/2014/main" id="{D742D2CC-B533-28BF-C14A-DD37341D9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1271" y="-3331970"/>
            <a:ext cx="8561704" cy="6940799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BC3EF55A-E03A-2C29-4513-89486F9FA537}"/>
              </a:ext>
            </a:extLst>
          </p:cNvPr>
          <p:cNvSpPr/>
          <p:nvPr/>
        </p:nvSpPr>
        <p:spPr>
          <a:xfrm>
            <a:off x="4479504" y="1008380"/>
            <a:ext cx="2632100" cy="57451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589A743-120D-4477-3996-8574B197AA0A}"/>
              </a:ext>
            </a:extLst>
          </p:cNvPr>
          <p:cNvSpPr/>
          <p:nvPr/>
        </p:nvSpPr>
        <p:spPr>
          <a:xfrm>
            <a:off x="1551181" y="1008380"/>
            <a:ext cx="2632100" cy="57451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形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01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233233" y="416688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赛题与技术依托</a:t>
            </a:r>
          </a:p>
        </p:txBody>
      </p:sp>
      <p:sp>
        <p:nvSpPr>
          <p:cNvPr id="56" name="AutoShape 28"/>
          <p:cNvSpPr>
            <a:spLocks noChangeAspect="1" noChangeArrowheads="1" noTextEdit="1"/>
          </p:cNvSpPr>
          <p:nvPr/>
        </p:nvSpPr>
        <p:spPr bwMode="auto">
          <a:xfrm>
            <a:off x="844867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8991F82-2E78-C074-C6E2-058FE98670D9}"/>
              </a:ext>
            </a:extLst>
          </p:cNvPr>
          <p:cNvSpPr/>
          <p:nvPr/>
        </p:nvSpPr>
        <p:spPr>
          <a:xfrm>
            <a:off x="1551181" y="1001375"/>
            <a:ext cx="2610314" cy="3866606"/>
          </a:xfrm>
          <a:prstGeom prst="roundRect">
            <a:avLst/>
          </a:prstGeom>
          <a:solidFill>
            <a:srgbClr val="396E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1ACB7FC-3968-1B63-AE59-197F8DFF1890}"/>
              </a:ext>
            </a:extLst>
          </p:cNvPr>
          <p:cNvSpPr/>
          <p:nvPr/>
        </p:nvSpPr>
        <p:spPr>
          <a:xfrm>
            <a:off x="4479504" y="1008380"/>
            <a:ext cx="2632100" cy="3866606"/>
          </a:xfrm>
          <a:prstGeom prst="roundRect">
            <a:avLst/>
          </a:prstGeom>
          <a:solidFill>
            <a:srgbClr val="C6D5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8E04EDF-0BDA-F899-6567-5B673DB59E38}"/>
              </a:ext>
            </a:extLst>
          </p:cNvPr>
          <p:cNvSpPr/>
          <p:nvPr/>
        </p:nvSpPr>
        <p:spPr>
          <a:xfrm>
            <a:off x="7532256" y="1008380"/>
            <a:ext cx="2632100" cy="57451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7DEE379-DDEB-71D3-9F33-D1FAC639B95C}"/>
              </a:ext>
            </a:extLst>
          </p:cNvPr>
          <p:cNvSpPr/>
          <p:nvPr/>
        </p:nvSpPr>
        <p:spPr>
          <a:xfrm>
            <a:off x="7532256" y="1001375"/>
            <a:ext cx="2632100" cy="3866606"/>
          </a:xfrm>
          <a:prstGeom prst="roundRect">
            <a:avLst/>
          </a:prstGeom>
          <a:solidFill>
            <a:srgbClr val="0044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A8763E-BA1E-13DF-67BC-FE7814B740DF}"/>
              </a:ext>
            </a:extLst>
          </p:cNvPr>
          <p:cNvSpPr txBox="1"/>
          <p:nvPr/>
        </p:nvSpPr>
        <p:spPr>
          <a:xfrm>
            <a:off x="1923414" y="1366362"/>
            <a:ext cx="1887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参赛方向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0657F0-8DF9-6191-BF39-72085D68C3A8}"/>
              </a:ext>
            </a:extLst>
          </p:cNvPr>
          <p:cNvSpPr txBox="1"/>
          <p:nvPr/>
        </p:nvSpPr>
        <p:spPr>
          <a:xfrm>
            <a:off x="4879572" y="1366362"/>
            <a:ext cx="1887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数据来源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FA386B-0C16-015D-340E-399FA3708A7C}"/>
              </a:ext>
            </a:extLst>
          </p:cNvPr>
          <p:cNvSpPr txBox="1"/>
          <p:nvPr/>
        </p:nvSpPr>
        <p:spPr>
          <a:xfrm>
            <a:off x="7904489" y="1366362"/>
            <a:ext cx="1887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核心目标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244321-9C6F-1A22-E0F4-7532E0578B4F}"/>
              </a:ext>
            </a:extLst>
          </p:cNvPr>
          <p:cNvSpPr txBox="1"/>
          <p:nvPr/>
        </p:nvSpPr>
        <p:spPr>
          <a:xfrm>
            <a:off x="1541289" y="2309119"/>
            <a:ext cx="23592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</a:rPr>
              <a:t>基于开源项目与社区的数据洞察工具与可视化作品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95B8B5-51FB-CF77-4645-828EF5D70859}"/>
              </a:ext>
            </a:extLst>
          </p:cNvPr>
          <p:cNvSpPr txBox="1"/>
          <p:nvPr/>
        </p:nvSpPr>
        <p:spPr>
          <a:xfrm>
            <a:off x="4505893" y="2309119"/>
            <a:ext cx="23592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基于开源项目</a:t>
            </a:r>
            <a:r>
              <a:rPr lang="en-US" altLang="zh-CN" sz="2400" dirty="0" err="1"/>
              <a:t>OpenDigger</a:t>
            </a:r>
            <a:r>
              <a:rPr lang="en-US" altLang="zh-CN" sz="2400" dirty="0"/>
              <a:t> Top 300 </a:t>
            </a:r>
            <a:r>
              <a:rPr lang="zh-CN" altLang="en-US" sz="2400" dirty="0"/>
              <a:t>项目指标数据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0FB102-E10D-474D-F93F-C9946DD09FC9}"/>
              </a:ext>
            </a:extLst>
          </p:cNvPr>
          <p:cNvSpPr txBox="1"/>
          <p:nvPr/>
        </p:nvSpPr>
        <p:spPr>
          <a:xfrm>
            <a:off x="7614513" y="2309119"/>
            <a:ext cx="2359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</a:rPr>
              <a:t>构建可解释的开源项目健康度评估模型</a:t>
            </a:r>
          </a:p>
        </p:txBody>
      </p:sp>
      <p:pic>
        <p:nvPicPr>
          <p:cNvPr id="23" name="图形 1">
            <a:extLst>
              <a:ext uri="{FF2B5EF4-FFF2-40B4-BE49-F238E27FC236}">
                <a16:creationId xmlns:a16="http://schemas.microsoft.com/office/drawing/2014/main" id="{B106BBB6-E4AA-6AC2-DA38-44BCAFE816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804736" y="4733021"/>
            <a:ext cx="5428373" cy="43989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A26B23B2-E696-F2E0-2EF0-2F02DDA865D3}"/>
              </a:ext>
            </a:extLst>
          </p:cNvPr>
          <p:cNvSpPr/>
          <p:nvPr/>
        </p:nvSpPr>
        <p:spPr>
          <a:xfrm>
            <a:off x="4924697" y="2050869"/>
            <a:ext cx="6505303" cy="4232365"/>
          </a:xfrm>
          <a:prstGeom prst="roundRect">
            <a:avLst/>
          </a:prstGeom>
          <a:solidFill>
            <a:srgbClr val="C6D5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E03BF25-04DC-29DD-11F4-49220E6FAD06}"/>
              </a:ext>
            </a:extLst>
          </p:cNvPr>
          <p:cNvSpPr/>
          <p:nvPr/>
        </p:nvSpPr>
        <p:spPr>
          <a:xfrm>
            <a:off x="5447211" y="574766"/>
            <a:ext cx="5227971" cy="940525"/>
          </a:xfrm>
          <a:prstGeom prst="roundRect">
            <a:avLst/>
          </a:prstGeom>
          <a:solidFill>
            <a:srgbClr val="C6D5E0"/>
          </a:solidFill>
          <a:ln>
            <a:solidFill>
              <a:srgbClr val="396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83298" y="-1084218"/>
            <a:ext cx="5777366" cy="46817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08469" y="666334"/>
            <a:ext cx="4966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思源宋体 CN Heavy" pitchFamily="18" charset="-122"/>
                <a:ea typeface="思源宋体 CN Heavy" pitchFamily="18" charset="-122"/>
              </a:rPr>
              <a:t>研究背景与问题动机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24697" y="2397336"/>
            <a:ext cx="98054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现状：</a:t>
            </a:r>
            <a:r>
              <a:rPr lang="zh-CN" altLang="en-US" sz="2800" dirty="0"/>
              <a:t> </a:t>
            </a:r>
            <a:r>
              <a:rPr lang="en-US" altLang="zh-CN" sz="2800" dirty="0"/>
              <a:t>GitHub </a:t>
            </a:r>
            <a:r>
              <a:rPr lang="zh-CN" altLang="en-US" sz="2800" dirty="0"/>
              <a:t>开源项目数量呈指数级</a:t>
            </a:r>
            <a:endParaRPr lang="en-US" altLang="zh-CN" sz="2800" dirty="0"/>
          </a:p>
          <a:p>
            <a:r>
              <a:rPr lang="en-US" altLang="zh-CN" sz="2800" dirty="0"/>
              <a:t>    </a:t>
            </a:r>
            <a:r>
              <a:rPr lang="zh-CN" altLang="en-US" sz="2800" dirty="0"/>
              <a:t>增长，选择成本高。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痛点：</a:t>
            </a:r>
            <a:r>
              <a:rPr lang="zh-CN" altLang="en-US" sz="2800" dirty="0"/>
              <a:t> 单纯的 </a:t>
            </a:r>
            <a:r>
              <a:rPr lang="en-US" altLang="zh-CN" sz="2800" dirty="0"/>
              <a:t>Star </a:t>
            </a:r>
            <a:r>
              <a:rPr lang="zh-CN" altLang="en-US" sz="2800" dirty="0"/>
              <a:t>数具有滞后性，无</a:t>
            </a:r>
            <a:endParaRPr lang="en-US" altLang="zh-CN" sz="2800" dirty="0"/>
          </a:p>
          <a:p>
            <a:r>
              <a:rPr lang="en-US" altLang="zh-CN" sz="2800" dirty="0"/>
              <a:t>    </a:t>
            </a:r>
            <a:r>
              <a:rPr lang="zh-CN" altLang="en-US" sz="2800" dirty="0"/>
              <a:t>法反映当前真实维护状态。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差异：</a:t>
            </a:r>
            <a:r>
              <a:rPr lang="zh-CN" altLang="en-US" sz="2800" dirty="0"/>
              <a:t> 项目维护活跃度差异巨大，</a:t>
            </a:r>
            <a:r>
              <a:rPr lang="en-US" altLang="zh-CN" sz="2800" dirty="0"/>
              <a:t>"</a:t>
            </a:r>
            <a:r>
              <a:rPr lang="zh-CN" altLang="en-US" sz="2800" dirty="0"/>
              <a:t>僵</a:t>
            </a:r>
            <a:endParaRPr lang="en-US" altLang="zh-CN" sz="2800" dirty="0"/>
          </a:p>
          <a:p>
            <a:r>
              <a:rPr lang="en-US" altLang="zh-CN" sz="2800" dirty="0"/>
              <a:t>    </a:t>
            </a:r>
            <a:r>
              <a:rPr lang="zh-CN" altLang="en-US" sz="2800" dirty="0"/>
              <a:t>尸项目</a:t>
            </a:r>
            <a:r>
              <a:rPr lang="en-US" altLang="zh-CN" sz="2800" dirty="0"/>
              <a:t>"</a:t>
            </a:r>
            <a:r>
              <a:rPr lang="zh-CN" altLang="en-US" sz="2800" dirty="0"/>
              <a:t>普遍存在。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需求：</a:t>
            </a:r>
            <a:r>
              <a:rPr lang="zh-CN" altLang="en-US" sz="2800" dirty="0"/>
              <a:t> 亟需一个综合性动态指标来刻</a:t>
            </a:r>
            <a:endParaRPr lang="en-US" altLang="zh-CN" sz="2800" dirty="0"/>
          </a:p>
          <a:p>
            <a:r>
              <a:rPr lang="zh-CN" altLang="en-US" sz="2800" dirty="0"/>
              <a:t>    画项目的实时健康度。</a:t>
            </a:r>
            <a:endParaRPr lang="zh-CN" altLang="en-US" sz="2800" dirty="0">
              <a:effectLst/>
            </a:endParaRPr>
          </a:p>
        </p:txBody>
      </p:sp>
      <p:pic>
        <p:nvPicPr>
          <p:cNvPr id="10" name="图形 4">
            <a:extLst>
              <a:ext uri="{FF2B5EF4-FFF2-40B4-BE49-F238E27FC236}">
                <a16:creationId xmlns:a16="http://schemas.microsoft.com/office/drawing/2014/main" id="{AD1DECFE-0D6A-488A-B650-2A1B9101F1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-3874862" y="3597527"/>
            <a:ext cx="8164471" cy="681290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59E5603-9995-2B66-9A8E-D3DA2B29E56B}"/>
              </a:ext>
            </a:extLst>
          </p:cNvPr>
          <p:cNvSpPr txBox="1"/>
          <p:nvPr/>
        </p:nvSpPr>
        <p:spPr>
          <a:xfrm>
            <a:off x="2774042" y="1256654"/>
            <a:ext cx="10855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02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8278-8428-9A25-971C-2614D664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96EE0710-ABF9-20B4-1269-388149BADB16}"/>
              </a:ext>
            </a:extLst>
          </p:cNvPr>
          <p:cNvSpPr/>
          <p:nvPr/>
        </p:nvSpPr>
        <p:spPr>
          <a:xfrm>
            <a:off x="8136756" y="0"/>
            <a:ext cx="4097215" cy="6858000"/>
          </a:xfrm>
          <a:prstGeom prst="rect">
            <a:avLst/>
          </a:prstGeom>
          <a:solidFill>
            <a:srgbClr val="004475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2C10D5-579B-5395-5B8C-D5822FE88131}"/>
              </a:ext>
            </a:extLst>
          </p:cNvPr>
          <p:cNvSpPr/>
          <p:nvPr/>
        </p:nvSpPr>
        <p:spPr>
          <a:xfrm>
            <a:off x="9242525" y="1765350"/>
            <a:ext cx="205684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数据获取 </a:t>
            </a:r>
            <a:endParaRPr lang="en-US" altLang="zh-CN" sz="24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4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数据处理 </a:t>
            </a:r>
            <a:endParaRPr lang="en-US" altLang="zh-CN" sz="24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4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健康度建模 </a:t>
            </a:r>
            <a:endParaRPr lang="en-US" altLang="zh-CN" sz="24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4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结果分析</a:t>
            </a:r>
            <a:endParaRPr lang="en-US" altLang="zh-CN" sz="24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4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可视化与交互</a:t>
            </a:r>
          </a:p>
        </p:txBody>
      </p:sp>
      <p:pic>
        <p:nvPicPr>
          <p:cNvPr id="77" name="图形 4">
            <a:extLst>
              <a:ext uri="{FF2B5EF4-FFF2-40B4-BE49-F238E27FC236}">
                <a16:creationId xmlns:a16="http://schemas.microsoft.com/office/drawing/2014/main" id="{E3EC2B6D-C361-C636-56C2-794FD4C16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2388970" y="-3910590"/>
            <a:ext cx="7529830" cy="6283325"/>
          </a:xfrm>
          <a:prstGeom prst="rect">
            <a:avLst/>
          </a:prstGeom>
        </p:spPr>
      </p:pic>
      <p:sp>
        <p:nvSpPr>
          <p:cNvPr id="79" name="任意多边形 78">
            <a:extLst>
              <a:ext uri="{FF2B5EF4-FFF2-40B4-BE49-F238E27FC236}">
                <a16:creationId xmlns:a16="http://schemas.microsoft.com/office/drawing/2014/main" id="{042475B6-F92A-6AD6-6143-B56E6A6E79C5}"/>
              </a:ext>
            </a:extLst>
          </p:cNvPr>
          <p:cNvSpPr/>
          <p:nvPr/>
        </p:nvSpPr>
        <p:spPr>
          <a:xfrm rot="10800000" flipH="1">
            <a:off x="6391375" y="-3044450"/>
            <a:ext cx="2851150" cy="2707640"/>
          </a:xfrm>
          <a:custGeom>
            <a:avLst/>
            <a:gdLst>
              <a:gd name="connsiteX0" fmla="*/ 8 w 4719"/>
              <a:gd name="connsiteY0" fmla="*/ 1128 h 4354"/>
              <a:gd name="connsiteX1" fmla="*/ 2701 w 4719"/>
              <a:gd name="connsiteY1" fmla="*/ 0 h 4354"/>
              <a:gd name="connsiteX2" fmla="*/ 4683 w 4719"/>
              <a:gd name="connsiteY2" fmla="*/ 2000 h 4354"/>
              <a:gd name="connsiteX3" fmla="*/ 3080 w 4719"/>
              <a:gd name="connsiteY3" fmla="*/ 4292 h 4354"/>
              <a:gd name="connsiteX4" fmla="*/ 1096 w 4719"/>
              <a:gd name="connsiteY4" fmla="*/ 3287 h 4354"/>
              <a:gd name="connsiteX5" fmla="*/ 8 w 4719"/>
              <a:gd name="connsiteY5" fmla="*/ 1128 h 4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0" h="4355">
                <a:moveTo>
                  <a:pt x="8" y="1128"/>
                </a:moveTo>
                <a:cubicBezTo>
                  <a:pt x="-134" y="50"/>
                  <a:pt x="1614" y="-5"/>
                  <a:pt x="2701" y="0"/>
                </a:cubicBezTo>
                <a:cubicBezTo>
                  <a:pt x="3788" y="5"/>
                  <a:pt x="4942" y="1311"/>
                  <a:pt x="4683" y="2000"/>
                </a:cubicBezTo>
                <a:cubicBezTo>
                  <a:pt x="4424" y="2689"/>
                  <a:pt x="3715" y="4066"/>
                  <a:pt x="3080" y="4292"/>
                </a:cubicBezTo>
                <a:cubicBezTo>
                  <a:pt x="1718" y="4533"/>
                  <a:pt x="1183" y="4051"/>
                  <a:pt x="1096" y="3287"/>
                </a:cubicBezTo>
                <a:cubicBezTo>
                  <a:pt x="1009" y="2523"/>
                  <a:pt x="150" y="2206"/>
                  <a:pt x="8" y="1128"/>
                </a:cubicBezTo>
                <a:close/>
              </a:path>
            </a:pathLst>
          </a:cu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AutoShape 28">
            <a:extLst>
              <a:ext uri="{FF2B5EF4-FFF2-40B4-BE49-F238E27FC236}">
                <a16:creationId xmlns:a16="http://schemas.microsoft.com/office/drawing/2014/main" id="{863DD9A6-CE73-0332-B52D-A2A79028977E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44867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A63B22AB-6D2E-E0E7-89A6-BA0E81C53244}"/>
              </a:ext>
            </a:extLst>
          </p:cNvPr>
          <p:cNvCxnSpPr/>
          <p:nvPr/>
        </p:nvCxnSpPr>
        <p:spPr>
          <a:xfrm>
            <a:off x="8570232" y="1386865"/>
            <a:ext cx="3230267" cy="0"/>
          </a:xfrm>
          <a:prstGeom prst="line">
            <a:avLst/>
          </a:prstGeom>
          <a:ln>
            <a:solidFill>
              <a:sysClr val="window" lastClr="FFFFFF">
                <a:lumMod val="50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DF7E7E70-664C-008D-ADBF-2DDF1DAD4598}"/>
              </a:ext>
            </a:extLst>
          </p:cNvPr>
          <p:cNvSpPr/>
          <p:nvPr/>
        </p:nvSpPr>
        <p:spPr>
          <a:xfrm>
            <a:off x="9327753" y="75553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步骤概览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4C1C8CD-89AF-89E3-0931-0EA72CF34D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05B6CBD-5843-0542-FAB7-6D78E72B1DED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FEA1D8-FD28-B092-0AAF-FD8F26ABB3AD}"/>
              </a:ext>
            </a:extLst>
          </p:cNvPr>
          <p:cNvSpPr txBox="1"/>
          <p:nvPr/>
        </p:nvSpPr>
        <p:spPr>
          <a:xfrm>
            <a:off x="1233233" y="416688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整体技术路线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D82E96-B593-BC6C-038B-5805F798EB21}"/>
              </a:ext>
            </a:extLst>
          </p:cNvPr>
          <p:cNvSpPr txBox="1"/>
          <p:nvPr/>
        </p:nvSpPr>
        <p:spPr>
          <a:xfrm>
            <a:off x="2377275" y="4739477"/>
            <a:ext cx="2710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：项目技术路线流程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87C9B94-6F5E-3A3C-D61A-7FEA21FE72BB}"/>
              </a:ext>
            </a:extLst>
          </p:cNvPr>
          <p:cNvCxnSpPr>
            <a:cxnSpLocks/>
          </p:cNvCxnSpPr>
          <p:nvPr/>
        </p:nvCxnSpPr>
        <p:spPr>
          <a:xfrm>
            <a:off x="10160312" y="2259720"/>
            <a:ext cx="0" cy="226032"/>
          </a:xfrm>
          <a:prstGeom prst="straightConnector1">
            <a:avLst/>
          </a:prstGeom>
          <a:ln>
            <a:solidFill>
              <a:srgbClr val="FFFFFF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4467E65-3E9B-D523-9BAA-97C9C6EDBA74}"/>
              </a:ext>
            </a:extLst>
          </p:cNvPr>
          <p:cNvCxnSpPr>
            <a:cxnSpLocks/>
          </p:cNvCxnSpPr>
          <p:nvPr/>
        </p:nvCxnSpPr>
        <p:spPr>
          <a:xfrm>
            <a:off x="10160312" y="3015399"/>
            <a:ext cx="0" cy="226032"/>
          </a:xfrm>
          <a:prstGeom prst="straightConnector1">
            <a:avLst/>
          </a:prstGeom>
          <a:ln>
            <a:solidFill>
              <a:srgbClr val="FFFFFF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6D7CF29-456B-4B0F-A3E3-9113F24E756B}"/>
              </a:ext>
            </a:extLst>
          </p:cNvPr>
          <p:cNvCxnSpPr>
            <a:cxnSpLocks/>
          </p:cNvCxnSpPr>
          <p:nvPr/>
        </p:nvCxnSpPr>
        <p:spPr>
          <a:xfrm>
            <a:off x="10170784" y="3775166"/>
            <a:ext cx="0" cy="219174"/>
          </a:xfrm>
          <a:prstGeom prst="straightConnector1">
            <a:avLst/>
          </a:prstGeom>
          <a:ln>
            <a:solidFill>
              <a:srgbClr val="FFFFFF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081AA82-713A-E3F8-BB78-7D38F827616B}"/>
              </a:ext>
            </a:extLst>
          </p:cNvPr>
          <p:cNvCxnSpPr>
            <a:cxnSpLocks/>
          </p:cNvCxnSpPr>
          <p:nvPr/>
        </p:nvCxnSpPr>
        <p:spPr>
          <a:xfrm>
            <a:off x="10185364" y="4424689"/>
            <a:ext cx="0" cy="272620"/>
          </a:xfrm>
          <a:prstGeom prst="straightConnector1">
            <a:avLst/>
          </a:prstGeom>
          <a:ln>
            <a:solidFill>
              <a:srgbClr val="FFFFFF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B15DD5D6-B1BC-CED7-4B9F-637426F1FABA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50"/>
          <a:stretch>
            <a:fillRect/>
          </a:stretch>
        </p:blipFill>
        <p:spPr>
          <a:xfrm>
            <a:off x="886321" y="3330246"/>
            <a:ext cx="6979920" cy="110901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74AF075-0BBC-CB6D-3714-C82D01F5B765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099"/>
          <a:stretch>
            <a:fillRect/>
          </a:stretch>
        </p:blipFill>
        <p:spPr>
          <a:xfrm>
            <a:off x="14967" y="2038766"/>
            <a:ext cx="5108597" cy="110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2992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六边形 5"/>
          <p:cNvSpPr>
            <a:spLocks noChangeArrowheads="1"/>
          </p:cNvSpPr>
          <p:nvPr/>
        </p:nvSpPr>
        <p:spPr bwMode="auto">
          <a:xfrm rot="16200000">
            <a:off x="3933478" y="-419637"/>
            <a:ext cx="3879450" cy="4718725"/>
          </a:xfrm>
          <a:prstGeom prst="hexagon">
            <a:avLst>
              <a:gd name="adj" fmla="val 24995"/>
              <a:gd name="vf" fmla="val 115470"/>
            </a:avLst>
          </a:prstGeom>
          <a:solidFill>
            <a:srgbClr val="396E9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" name="六边形 5">
            <a:extLst>
              <a:ext uri="{FF2B5EF4-FFF2-40B4-BE49-F238E27FC236}">
                <a16:creationId xmlns:a16="http://schemas.microsoft.com/office/drawing/2014/main" id="{59F62D5F-CB10-1D96-BE02-C8BD71C497C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298621" y="2526150"/>
            <a:ext cx="4081272" cy="4895937"/>
          </a:xfrm>
          <a:prstGeom prst="hexagon">
            <a:avLst>
              <a:gd name="adj" fmla="val 24995"/>
              <a:gd name="vf" fmla="val 115470"/>
            </a:avLst>
          </a:prstGeom>
          <a:solidFill>
            <a:srgbClr val="1C5984"/>
          </a:solidFill>
          <a:ln>
            <a:noFill/>
          </a:ln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31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600" name="文本框 25"/>
          <p:cNvSpPr>
            <a:spLocks noChangeArrowheads="1"/>
          </p:cNvSpPr>
          <p:nvPr/>
        </p:nvSpPr>
        <p:spPr bwMode="auto">
          <a:xfrm>
            <a:off x="4383213" y="622638"/>
            <a:ext cx="30629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01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、指标定义</a:t>
            </a:r>
          </a:p>
        </p:txBody>
      </p:sp>
      <p:sp>
        <p:nvSpPr>
          <p:cNvPr id="24602" name="文本框 27"/>
          <p:cNvSpPr>
            <a:spLocks noChangeArrowheads="1"/>
          </p:cNvSpPr>
          <p:nvPr/>
        </p:nvSpPr>
        <p:spPr bwMode="auto">
          <a:xfrm>
            <a:off x="6650595" y="3617428"/>
            <a:ext cx="30629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03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、计算公式</a:t>
            </a:r>
          </a:p>
        </p:txBody>
      </p:sp>
      <p:sp>
        <p:nvSpPr>
          <p:cNvPr id="24603" name="文本框 28"/>
          <p:cNvSpPr>
            <a:spLocks noChangeArrowheads="1"/>
          </p:cNvSpPr>
          <p:nvPr/>
        </p:nvSpPr>
        <p:spPr bwMode="auto">
          <a:xfrm>
            <a:off x="3514343" y="1648024"/>
            <a:ext cx="489593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A_n</a:t>
            </a:r>
            <a:r>
              <a:rPr lang="en-US" sz="2000" b="1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: </a:t>
            </a:r>
            <a:r>
              <a:rPr lang="zh-CN" altLang="en-US" sz="2000" b="1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开发热度</a:t>
            </a:r>
            <a:endParaRPr lang="en-US" altLang="zh-CN" sz="2000" b="1" dirty="0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Arial Unicode MS" panose="020B0604020202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C_n</a:t>
            </a:r>
            <a:r>
              <a:rPr lang="en-US" altLang="zh-CN" sz="2000" b="1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:</a:t>
            </a:r>
            <a:r>
              <a:rPr lang="zh-CN" altLang="en-US" sz="2000" b="1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协作与参与度</a:t>
            </a:r>
            <a:endParaRPr lang="en-US" altLang="zh-CN" sz="2000" b="1" dirty="0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Arial Unicode MS" panose="020B0604020202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I_n</a:t>
            </a:r>
            <a:r>
              <a:rPr lang="en-US" sz="2000" b="1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: </a:t>
            </a:r>
            <a:r>
              <a:rPr lang="zh-CN" altLang="en-US" sz="2000" b="1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社区关注与传播</a:t>
            </a:r>
            <a:endParaRPr lang="en-US" sz="2000" b="1" dirty="0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Arial Unicode MS" panose="020B0604020202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Maintenance_score:Issue</a:t>
            </a:r>
            <a:r>
              <a:rPr lang="en-US" altLang="zh-CN" sz="2000" b="1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 </a:t>
            </a:r>
            <a:r>
              <a:rPr lang="zh-CN" altLang="en-US" sz="2000" b="1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Arial Unicode MS" panose="020B0604020202020204" pitchFamily="34" charset="-122"/>
              </a:rPr>
              <a:t>积压情况</a:t>
            </a:r>
            <a:endParaRPr lang="zh-CN" altLang="en-US" sz="2000" dirty="0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Arial Unicode MS" panose="020B0604020202020204" pitchFamily="34" charset="-122"/>
            </a:endParaRPr>
          </a:p>
        </p:txBody>
      </p:sp>
      <p:pic>
        <p:nvPicPr>
          <p:cNvPr id="5" name="图形 1">
            <a:extLst>
              <a:ext uri="{FF2B5EF4-FFF2-40B4-BE49-F238E27FC236}">
                <a16:creationId xmlns:a16="http://schemas.microsoft.com/office/drawing/2014/main" id="{C521B4AF-8FE1-8950-71AE-FCB249C19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7A1D0BD-3E2B-E1AB-C5A5-1E1612D0C16E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04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6A5A36-6163-D8B1-A426-760F0D37187D}"/>
              </a:ext>
            </a:extLst>
          </p:cNvPr>
          <p:cNvSpPr txBox="1"/>
          <p:nvPr/>
        </p:nvSpPr>
        <p:spPr>
          <a:xfrm>
            <a:off x="1233233" y="416688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健康度模型设计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3B00CB-3B0E-5C5F-C2F3-C136AD5F66B5}"/>
              </a:ext>
            </a:extLst>
          </p:cNvPr>
          <p:cNvSpPr/>
          <p:nvPr/>
        </p:nvSpPr>
        <p:spPr>
          <a:xfrm>
            <a:off x="6422549" y="4301312"/>
            <a:ext cx="3975463" cy="17271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>
                <a:solidFill>
                  <a:srgbClr val="1C598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HealthScore</a:t>
            </a:r>
            <a:r>
              <a:rPr lang="en-US" altLang="zh-CN" dirty="0">
                <a:solidFill>
                  <a:srgbClr val="1C598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</a:t>
            </a:r>
          </a:p>
          <a:p>
            <a:r>
              <a:rPr lang="pl-PL" altLang="zh-CN" dirty="0">
                <a:solidFill>
                  <a:srgbClr val="1C598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w_a * A_n +</a:t>
            </a:r>
          </a:p>
          <a:p>
            <a:r>
              <a:rPr lang="pl-PL" altLang="zh-CN" dirty="0">
                <a:solidFill>
                  <a:srgbClr val="1C598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   w_i * I_n +</a:t>
            </a:r>
          </a:p>
          <a:p>
            <a:r>
              <a:rPr lang="pl-PL" altLang="zh-CN" dirty="0">
                <a:solidFill>
                  <a:srgbClr val="1C598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   w_c * C_n +</a:t>
            </a:r>
          </a:p>
          <a:p>
            <a:r>
              <a:rPr lang="pl-PL" altLang="zh-CN" dirty="0">
                <a:solidFill>
                  <a:srgbClr val="1C5984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   w_m * maintenance_score</a:t>
            </a:r>
            <a:endParaRPr lang="en-US" altLang="zh-CN" dirty="0">
              <a:solidFill>
                <a:srgbClr val="1C5984"/>
              </a:solidFill>
              <a:effectLst/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8" name="六边形 5">
            <a:extLst>
              <a:ext uri="{FF2B5EF4-FFF2-40B4-BE49-F238E27FC236}">
                <a16:creationId xmlns:a16="http://schemas.microsoft.com/office/drawing/2014/main" id="{F9DDBDCE-FB18-1EC5-485D-D1F8A085AAC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562667" y="2513846"/>
            <a:ext cx="3879452" cy="4718725"/>
          </a:xfrm>
          <a:prstGeom prst="hexagon">
            <a:avLst>
              <a:gd name="adj" fmla="val 24995"/>
              <a:gd name="vf" fmla="val 115470"/>
            </a:avLst>
          </a:prstGeom>
          <a:solidFill>
            <a:srgbClr val="004475"/>
          </a:solidFill>
          <a:ln>
            <a:noFill/>
          </a:ln>
        </p:spPr>
        <p:txBody>
          <a:bodyPr/>
          <a:lstStyle/>
          <a:p>
            <a:endParaRPr lang="zh-CN" altLang="zh-CN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0" name="文本框 27">
            <a:extLst>
              <a:ext uri="{FF2B5EF4-FFF2-40B4-BE49-F238E27FC236}">
                <a16:creationId xmlns:a16="http://schemas.microsoft.com/office/drawing/2014/main" id="{2A22AAA6-21C3-0090-4776-8ADA5DC1B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454" y="3617429"/>
            <a:ext cx="36601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02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anose="02010600040101010101" pitchFamily="2" charset="-122"/>
              </a:rPr>
              <a:t>、指标归一化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C603C2-55A3-7259-FBFB-38C13A6A400D}"/>
              </a:ext>
            </a:extLst>
          </p:cNvPr>
          <p:cNvSpPr txBox="1"/>
          <p:nvPr/>
        </p:nvSpPr>
        <p:spPr>
          <a:xfrm>
            <a:off x="1509454" y="4195413"/>
            <a:ext cx="3979693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altLang="zh-CN" sz="2400" dirty="0">
                <a:solidFill>
                  <a:schemeClr val="bg1"/>
                </a:solidFill>
              </a:rPr>
              <a:t>A_n = math.log1p(A)</a:t>
            </a:r>
          </a:p>
          <a:p>
            <a:pPr algn="ctr">
              <a:buNone/>
            </a:pPr>
            <a:r>
              <a:rPr lang="pt-BR" altLang="zh-CN" sz="2400" dirty="0">
                <a:solidFill>
                  <a:schemeClr val="bg1"/>
                </a:solidFill>
              </a:rPr>
              <a:t>I_n = math.log1p(I)</a:t>
            </a:r>
          </a:p>
          <a:p>
            <a:pPr algn="ctr">
              <a:buNone/>
            </a:pPr>
            <a:r>
              <a:rPr lang="en-US" altLang="zh-CN" sz="2800" b="1" dirty="0">
                <a:solidFill>
                  <a:schemeClr val="bg1"/>
                </a:solidFill>
                <a:effectLst/>
              </a:rPr>
              <a:t>Issue</a:t>
            </a:r>
            <a:r>
              <a:rPr lang="zh-CN" altLang="en-US" sz="2800" b="1" dirty="0">
                <a:solidFill>
                  <a:schemeClr val="bg1"/>
                </a:solidFill>
                <a:effectLst/>
              </a:rPr>
              <a:t>数进行反向处理</a:t>
            </a:r>
            <a:endParaRPr lang="en-US" altLang="zh-CN" sz="2800" b="1" dirty="0">
              <a:solidFill>
                <a:schemeClr val="bg1"/>
              </a:solidFill>
              <a:effectLst/>
            </a:endParaRPr>
          </a:p>
          <a:p>
            <a:pPr algn="ctr">
              <a:buNone/>
            </a:pPr>
            <a:r>
              <a:rPr lang="fr-FR" altLang="zh-CN" sz="2400" dirty="0">
                <a:solidFill>
                  <a:schemeClr val="bg1"/>
                </a:solidFill>
                <a:effectLst/>
              </a:rPr>
              <a:t>maintenance_score =1 - M_n / (M_n +1)</a:t>
            </a:r>
            <a:endParaRPr lang="zh-CN" altLang="en-US" sz="2400" dirty="0">
              <a:solidFill>
                <a:schemeClr val="bg1"/>
              </a:solidFill>
              <a:effectLst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E977B70-2497-DBF9-30F3-65819EDE80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6300"/>
            <a:ext cx="3365224" cy="980163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AFD173F6-2732-3A60-2CA2-8C5DF0E5E869}"/>
              </a:ext>
            </a:extLst>
          </p:cNvPr>
          <p:cNvSpPr txBox="1"/>
          <p:nvPr/>
        </p:nvSpPr>
        <p:spPr>
          <a:xfrm>
            <a:off x="253506" y="1692327"/>
            <a:ext cx="2280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归一化公式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240000">
            <a:off x="-1218740" y="-1020816"/>
            <a:ext cx="12155170" cy="984948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2862027" y="877652"/>
            <a:ext cx="8759825" cy="4572000"/>
            <a:chOff x="3678" y="1986"/>
            <a:chExt cx="13795" cy="7200"/>
          </a:xfrm>
        </p:grpSpPr>
        <p:sp>
          <p:nvSpPr>
            <p:cNvPr id="70" name="AutoShape 3"/>
            <p:cNvSpPr>
              <a:spLocks noChangeAspect="1" noChangeArrowheads="1" noTextEdit="1"/>
            </p:cNvSpPr>
            <p:nvPr/>
          </p:nvSpPr>
          <p:spPr bwMode="auto">
            <a:xfrm>
              <a:off x="3678" y="6053"/>
              <a:ext cx="1075" cy="1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9800" y="7296"/>
              <a:ext cx="5962" cy="1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计算所有项目健康值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排序并展示 </a:t>
              </a:r>
              <a:r>
                <a:rPr lang="en-US" altLang="zh-CN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Top-N </a:t>
              </a:r>
              <a:r>
                <a:rPr lang="zh-CN" altLang="en-US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</a:t>
              </a:r>
              <a:endPara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分析健康度整体分布</a:t>
              </a:r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7912" y="5960"/>
              <a:ext cx="1228" cy="1249"/>
              <a:chOff x="5021267" y="3779845"/>
              <a:chExt cx="779463" cy="792164"/>
            </a:xfrm>
          </p:grpSpPr>
          <p:grpSp>
            <p:nvGrpSpPr>
              <p:cNvPr id="72" name="Group 8"/>
              <p:cNvGrpSpPr>
                <a:grpSpLocks noChangeAspect="1"/>
              </p:cNvGrpSpPr>
              <p:nvPr/>
            </p:nvGrpSpPr>
            <p:grpSpPr>
              <a:xfrm>
                <a:off x="5021267" y="3779845"/>
                <a:ext cx="779463" cy="792164"/>
                <a:chOff x="3163" y="2381"/>
                <a:chExt cx="491" cy="499"/>
              </a:xfrm>
            </p:grpSpPr>
            <p:sp>
              <p:nvSpPr>
                <p:cNvPr id="73" name="AutoShape 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165" y="2441"/>
                  <a:ext cx="430" cy="4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" name="Freeform 9"/>
                <p:cNvSpPr/>
                <p:nvPr/>
              </p:nvSpPr>
              <p:spPr bwMode="auto">
                <a:xfrm>
                  <a:off x="3163" y="2381"/>
                  <a:ext cx="491" cy="499"/>
                </a:xfrm>
                <a:custGeom>
                  <a:avLst/>
                  <a:gdLst>
                    <a:gd name="T0" fmla="*/ 807 w 1386"/>
                    <a:gd name="T1" fmla="*/ 192 h 1413"/>
                    <a:gd name="T2" fmla="*/ 1278 w 1386"/>
                    <a:gd name="T3" fmla="*/ 395 h 1413"/>
                    <a:gd name="T4" fmla="*/ 1059 w 1386"/>
                    <a:gd name="T5" fmla="*/ 1245 h 1413"/>
                    <a:gd name="T6" fmla="*/ 278 w 1386"/>
                    <a:gd name="T7" fmla="*/ 1165 h 1413"/>
                    <a:gd name="T8" fmla="*/ 322 w 1386"/>
                    <a:gd name="T9" fmla="*/ 496 h 1413"/>
                    <a:gd name="T10" fmla="*/ 807 w 1386"/>
                    <a:gd name="T11" fmla="*/ 192 h 1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86" h="1413">
                      <a:moveTo>
                        <a:pt x="807" y="192"/>
                      </a:moveTo>
                      <a:cubicBezTo>
                        <a:pt x="807" y="192"/>
                        <a:pt x="1170" y="0"/>
                        <a:pt x="1278" y="395"/>
                      </a:cubicBezTo>
                      <a:cubicBezTo>
                        <a:pt x="1386" y="790"/>
                        <a:pt x="1300" y="1117"/>
                        <a:pt x="1059" y="1245"/>
                      </a:cubicBezTo>
                      <a:cubicBezTo>
                        <a:pt x="818" y="1372"/>
                        <a:pt x="556" y="1413"/>
                        <a:pt x="278" y="1165"/>
                      </a:cubicBezTo>
                      <a:cubicBezTo>
                        <a:pt x="0" y="916"/>
                        <a:pt x="106" y="682"/>
                        <a:pt x="322" y="496"/>
                      </a:cubicBezTo>
                      <a:cubicBezTo>
                        <a:pt x="538" y="309"/>
                        <a:pt x="807" y="192"/>
                        <a:pt x="807" y="19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1" name="文本框 60"/>
              <p:cNvSpPr txBox="1"/>
              <p:nvPr/>
            </p:nvSpPr>
            <p:spPr>
              <a:xfrm>
                <a:off x="5191202" y="4051391"/>
                <a:ext cx="495448" cy="461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Calibri"/>
                    <a:ea typeface="微软雅黑" panose="020B0503020204020204" pitchFamily="34" charset="-122"/>
                  </a:rPr>
                  <a:t>02</a:t>
                </a:r>
                <a:endParaRPr lang="zh-CN" altLang="en-US" sz="2400" dirty="0"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>
              <a:off x="10135" y="6171"/>
              <a:ext cx="4249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多项目横向分析</a:t>
              </a:r>
            </a:p>
          </p:txBody>
        </p:sp>
        <p:sp>
          <p:nvSpPr>
            <p:cNvPr id="76" name="AutoShape 11"/>
            <p:cNvSpPr>
              <a:spLocks noChangeAspect="1" noChangeArrowheads="1" noTextEdit="1"/>
            </p:cNvSpPr>
            <p:nvPr/>
          </p:nvSpPr>
          <p:spPr bwMode="auto">
            <a:xfrm>
              <a:off x="12200" y="6122"/>
              <a:ext cx="1075" cy="1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9953" y="3131"/>
              <a:ext cx="5198" cy="24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健康值 </a:t>
              </a:r>
              <a:r>
                <a:rPr lang="en-US" altLang="zh-CN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KPI </a:t>
              </a:r>
              <a:r>
                <a:rPr lang="zh-CN" altLang="en-US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</a:t>
              </a:r>
              <a:endPara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多指标时间趋势图</a:t>
              </a:r>
              <a:endPara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健康结构雷达图</a:t>
              </a:r>
              <a:endPara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Issue </a:t>
              </a:r>
              <a:r>
                <a:rPr lang="zh-CN" altLang="en-US" sz="24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维护压力分析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9800" y="2193"/>
              <a:ext cx="4249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单项目纵向分析</a:t>
              </a: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7913" y="1986"/>
              <a:ext cx="9560" cy="5128"/>
              <a:chOff x="5024438" y="1260476"/>
              <a:chExt cx="6070600" cy="3255963"/>
            </a:xfrm>
          </p:grpSpPr>
          <p:grpSp>
            <p:nvGrpSpPr>
              <p:cNvPr id="78" name="Group 16"/>
              <p:cNvGrpSpPr>
                <a:grpSpLocks noChangeAspect="1"/>
              </p:cNvGrpSpPr>
              <p:nvPr/>
            </p:nvGrpSpPr>
            <p:grpSpPr>
              <a:xfrm>
                <a:off x="5024438" y="1260476"/>
                <a:ext cx="6070600" cy="3255963"/>
                <a:chOff x="3165" y="794"/>
                <a:chExt cx="3824" cy="2051"/>
              </a:xfrm>
            </p:grpSpPr>
            <p:sp>
              <p:nvSpPr>
                <p:cNvPr id="79" name="AutoShape 15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6559" y="2421"/>
                  <a:ext cx="430" cy="4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0" name="Freeform 17"/>
                <p:cNvSpPr/>
                <p:nvPr/>
              </p:nvSpPr>
              <p:spPr bwMode="auto">
                <a:xfrm>
                  <a:off x="3165" y="794"/>
                  <a:ext cx="491" cy="499"/>
                </a:xfrm>
                <a:custGeom>
                  <a:avLst/>
                  <a:gdLst>
                    <a:gd name="T0" fmla="*/ 807 w 1386"/>
                    <a:gd name="T1" fmla="*/ 192 h 1413"/>
                    <a:gd name="T2" fmla="*/ 1278 w 1386"/>
                    <a:gd name="T3" fmla="*/ 395 h 1413"/>
                    <a:gd name="T4" fmla="*/ 1059 w 1386"/>
                    <a:gd name="T5" fmla="*/ 1245 h 1413"/>
                    <a:gd name="T6" fmla="*/ 278 w 1386"/>
                    <a:gd name="T7" fmla="*/ 1165 h 1413"/>
                    <a:gd name="T8" fmla="*/ 322 w 1386"/>
                    <a:gd name="T9" fmla="*/ 496 h 1413"/>
                    <a:gd name="T10" fmla="*/ 807 w 1386"/>
                    <a:gd name="T11" fmla="*/ 192 h 1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86" h="1413">
                      <a:moveTo>
                        <a:pt x="807" y="192"/>
                      </a:moveTo>
                      <a:cubicBezTo>
                        <a:pt x="807" y="192"/>
                        <a:pt x="1170" y="0"/>
                        <a:pt x="1278" y="395"/>
                      </a:cubicBezTo>
                      <a:cubicBezTo>
                        <a:pt x="1386" y="790"/>
                        <a:pt x="1300" y="1117"/>
                        <a:pt x="1059" y="1245"/>
                      </a:cubicBezTo>
                      <a:cubicBezTo>
                        <a:pt x="818" y="1372"/>
                        <a:pt x="556" y="1413"/>
                        <a:pt x="278" y="1165"/>
                      </a:cubicBezTo>
                      <a:cubicBezTo>
                        <a:pt x="0" y="916"/>
                        <a:pt x="106" y="682"/>
                        <a:pt x="322" y="496"/>
                      </a:cubicBezTo>
                      <a:cubicBezTo>
                        <a:pt x="538" y="309"/>
                        <a:pt x="807" y="192"/>
                        <a:pt x="807" y="19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6" name="文本框 65"/>
              <p:cNvSpPr txBox="1"/>
              <p:nvPr/>
            </p:nvSpPr>
            <p:spPr>
              <a:xfrm>
                <a:off x="5211414" y="1453272"/>
                <a:ext cx="495649" cy="4616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Calibri"/>
                    <a:ea typeface="微软雅黑" panose="020B0503020204020204" pitchFamily="34" charset="-122"/>
                  </a:rPr>
                  <a:t>01</a:t>
                </a:r>
                <a:endParaRPr lang="zh-CN" altLang="en-US" sz="2400" dirty="0"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5" name="文本框 54"/>
          <p:cNvSpPr txBox="1"/>
          <p:nvPr/>
        </p:nvSpPr>
        <p:spPr>
          <a:xfrm>
            <a:off x="1148105" y="1518201"/>
            <a:ext cx="30059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cs typeface="思源黑体 CN Bold" panose="020B0800000000000000" charset="-122"/>
              </a:rPr>
              <a:t>多角度分析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2045745" y="2450727"/>
            <a:ext cx="1632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ANALYSIS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DB7764-922F-0D5D-EE22-324FDD013341}"/>
              </a:ext>
            </a:extLst>
          </p:cNvPr>
          <p:cNvSpPr txBox="1"/>
          <p:nvPr/>
        </p:nvSpPr>
        <p:spPr>
          <a:xfrm>
            <a:off x="2408065" y="955006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89330-F333-8594-ABE5-76AEFA46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8">
            <a:extLst>
              <a:ext uri="{FF2B5EF4-FFF2-40B4-BE49-F238E27FC236}">
                <a16:creationId xmlns:a16="http://schemas.microsoft.com/office/drawing/2014/main" id="{81277873-D57F-ADAD-54C4-639584859D0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264FFC-2819-236F-B788-9D5EE20D2C29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F9104550-894C-BD5F-EA0D-382905ABF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060"/>
            <a:ext cx="12414911" cy="659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5376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462C-F75E-2A6E-1D08-F2D61038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8">
            <a:extLst>
              <a:ext uri="{FF2B5EF4-FFF2-40B4-BE49-F238E27FC236}">
                <a16:creationId xmlns:a16="http://schemas.microsoft.com/office/drawing/2014/main" id="{32EFD548-6C22-1754-E345-B2024443ABF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26E48E-C830-2DAE-4064-DA7C9B1962DD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  <p:pic>
        <p:nvPicPr>
          <p:cNvPr id="4" name="图片 3" descr="图表, 雷达图&#10;&#10;AI 生成的内容可能不正确。">
            <a:extLst>
              <a:ext uri="{FF2B5EF4-FFF2-40B4-BE49-F238E27FC236}">
                <a16:creationId xmlns:a16="http://schemas.microsoft.com/office/drawing/2014/main" id="{E2EBDEC9-8A90-527E-A8FB-0C3EB450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1240971"/>
            <a:ext cx="4996690" cy="4376057"/>
          </a:xfrm>
          <a:prstGeom prst="rect">
            <a:avLst/>
          </a:prstGeom>
        </p:spPr>
      </p:pic>
      <p:pic>
        <p:nvPicPr>
          <p:cNvPr id="6" name="图片 5" descr="图表, 散点图&#10;&#10;AI 生成的内容可能不正确。">
            <a:extLst>
              <a:ext uri="{FF2B5EF4-FFF2-40B4-BE49-F238E27FC236}">
                <a16:creationId xmlns:a16="http://schemas.microsoft.com/office/drawing/2014/main" id="{956750E1-75AF-CE2D-F82F-74DBB2E99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4815186" cy="3579223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D5A4FA09-D456-4FB8-720A-AC3EB6249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517" y="3735978"/>
            <a:ext cx="3759309" cy="289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5904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形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3940175" y="1090295"/>
            <a:ext cx="7529830" cy="6283325"/>
          </a:xfrm>
          <a:prstGeom prst="rect">
            <a:avLst/>
          </a:prstGeom>
        </p:spPr>
      </p:pic>
      <p:sp>
        <p:nvSpPr>
          <p:cNvPr id="31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FB130E-1A9C-C3A9-4914-AFAE409673DB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C5D1AA8-BDB0-7113-A328-E5CEE6D1F31B}"/>
              </a:ext>
            </a:extLst>
          </p:cNvPr>
          <p:cNvSpPr txBox="1"/>
          <p:nvPr/>
        </p:nvSpPr>
        <p:spPr>
          <a:xfrm>
            <a:off x="2316969" y="344444"/>
            <a:ext cx="948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开源项目综合健康度对比分析（</a:t>
            </a:r>
            <a:r>
              <a:rPr lang="en-US" altLang="zh-CN" sz="2400" b="1" dirty="0"/>
              <a:t>Overall Comparison</a:t>
            </a:r>
            <a:r>
              <a:rPr lang="zh-CN" altLang="en-US" sz="2400" b="1" dirty="0"/>
              <a:t>）</a:t>
            </a:r>
            <a:endParaRPr lang="zh-CN" altLang="en-US" sz="2400" b="1" dirty="0"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9CA27E-A89C-F492-A1E7-761E61ADA111}"/>
              </a:ext>
            </a:extLst>
          </p:cNvPr>
          <p:cNvSpPr txBox="1"/>
          <p:nvPr/>
        </p:nvSpPr>
        <p:spPr>
          <a:xfrm>
            <a:off x="6528419" y="6144224"/>
            <a:ext cx="370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图</a:t>
            </a:r>
            <a:r>
              <a:rPr lang="en-US" altLang="zh-CN" dirty="0"/>
              <a:t>1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Top 20</a:t>
            </a:r>
            <a:r>
              <a:rPr lang="zh-CN" altLang="en-US" dirty="0">
                <a:effectLst/>
              </a:rPr>
              <a:t>项目健康度评分排名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E8855BD-6C50-3148-5DF8-6D0E81D19EFB}"/>
              </a:ext>
            </a:extLst>
          </p:cNvPr>
          <p:cNvSpPr/>
          <p:nvPr/>
        </p:nvSpPr>
        <p:spPr>
          <a:xfrm>
            <a:off x="293594" y="339575"/>
            <a:ext cx="1671484" cy="508000"/>
          </a:xfrm>
          <a:prstGeom prst="roundRect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i="1" dirty="0">
                <a:solidFill>
                  <a:schemeClr val="tx1"/>
                </a:solidFill>
              </a:rPr>
              <a:t>分析角度一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E0D9E9-49B4-06A9-8724-1A76D4D4E71C}"/>
              </a:ext>
            </a:extLst>
          </p:cNvPr>
          <p:cNvSpPr/>
          <p:nvPr/>
        </p:nvSpPr>
        <p:spPr>
          <a:xfrm>
            <a:off x="865505" y="1387113"/>
            <a:ext cx="342750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分析目标：</a:t>
            </a:r>
            <a:endParaRPr lang="en-US" altLang="zh-CN" sz="2000" b="1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从整体层面对不同开源项目的综合健康度进行横向对比，识别当前健康度表现最优的项目。</a:t>
            </a:r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分析方法：</a:t>
            </a:r>
            <a:endParaRPr lang="en-US" altLang="zh-CN" sz="2000" b="1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2000" dirty="0" err="1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OpenDigger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 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Activity 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000" dirty="0" err="1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OpenRank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指标构建综合健康度评分，并对项目进行排序分析。</a:t>
            </a:r>
          </a:p>
        </p:txBody>
      </p:sp>
      <p:pic>
        <p:nvPicPr>
          <p:cNvPr id="3" name="图片 2" descr="图表, 条形图&#10;&#10;AI 生成的内容可能不正确。">
            <a:extLst>
              <a:ext uri="{FF2B5EF4-FFF2-40B4-BE49-F238E27FC236}">
                <a16:creationId xmlns:a16="http://schemas.microsoft.com/office/drawing/2014/main" id="{A4795E8A-7862-6A86-A5FF-BAB4D3EC2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165" y="1827127"/>
            <a:ext cx="6853571" cy="329607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箭头: 下 75">
            <a:extLst>
              <a:ext uri="{FF2B5EF4-FFF2-40B4-BE49-F238E27FC236}">
                <a16:creationId xmlns:a16="http://schemas.microsoft.com/office/drawing/2014/main" id="{C85439D1-A94E-8B39-EE30-709C4AAFFFDD}"/>
              </a:ext>
            </a:extLst>
          </p:cNvPr>
          <p:cNvSpPr/>
          <p:nvPr/>
        </p:nvSpPr>
        <p:spPr>
          <a:xfrm>
            <a:off x="1712496" y="3153855"/>
            <a:ext cx="2253229" cy="3535250"/>
          </a:xfrm>
          <a:prstGeom prst="downArrow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Line 5"/>
          <p:cNvSpPr>
            <a:spLocks noChangeShapeType="1"/>
          </p:cNvSpPr>
          <p:nvPr/>
        </p:nvSpPr>
        <p:spPr bwMode="auto">
          <a:xfrm flipH="1">
            <a:off x="1558925" y="4429126"/>
            <a:ext cx="0" cy="652463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 flipH="1">
            <a:off x="3838575" y="4244976"/>
            <a:ext cx="0" cy="1246188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H="1">
            <a:off x="1757363" y="3705226"/>
            <a:ext cx="0" cy="2081213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>
            <a:off x="3640138" y="4556126"/>
            <a:ext cx="0" cy="669925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>
            <a:off x="1944688" y="3705226"/>
            <a:ext cx="0" cy="1701800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H="1">
            <a:off x="3465513" y="4170363"/>
            <a:ext cx="0" cy="1128713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H="1">
            <a:off x="3265488" y="3513138"/>
            <a:ext cx="0" cy="2057400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flipH="1">
            <a:off x="4768850" y="4445001"/>
            <a:ext cx="0" cy="781050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 flipH="1">
            <a:off x="4986338" y="3970338"/>
            <a:ext cx="0" cy="1131888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 flipH="1">
            <a:off x="6877050" y="4387851"/>
            <a:ext cx="0" cy="669925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7051675" y="4013201"/>
            <a:ext cx="0" cy="116205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 flipH="1">
            <a:off x="7229475" y="4287838"/>
            <a:ext cx="0" cy="887413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 flipH="1">
            <a:off x="7423150" y="4511676"/>
            <a:ext cx="0" cy="5461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 flipH="1">
            <a:off x="5154613" y="4448176"/>
            <a:ext cx="0" cy="1338263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ine 27"/>
          <p:cNvSpPr>
            <a:spLocks noChangeShapeType="1"/>
          </p:cNvSpPr>
          <p:nvPr/>
        </p:nvSpPr>
        <p:spPr bwMode="auto">
          <a:xfrm flipH="1">
            <a:off x="6683375" y="4230688"/>
            <a:ext cx="0" cy="1685925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 flipH="1">
            <a:off x="5348288" y="3651251"/>
            <a:ext cx="0" cy="1839913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 flipH="1">
            <a:off x="6481763" y="3419476"/>
            <a:ext cx="0" cy="2690813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Line 30"/>
          <p:cNvSpPr>
            <a:spLocks noChangeShapeType="1"/>
          </p:cNvSpPr>
          <p:nvPr/>
        </p:nvSpPr>
        <p:spPr bwMode="auto">
          <a:xfrm flipH="1">
            <a:off x="5530850" y="4244976"/>
            <a:ext cx="0" cy="1325563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31"/>
          <p:cNvSpPr>
            <a:spLocks noChangeShapeType="1"/>
          </p:cNvSpPr>
          <p:nvPr/>
        </p:nvSpPr>
        <p:spPr bwMode="auto">
          <a:xfrm flipH="1">
            <a:off x="6291263" y="4230688"/>
            <a:ext cx="0" cy="1879600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32"/>
          <p:cNvSpPr>
            <a:spLocks noChangeShapeType="1"/>
          </p:cNvSpPr>
          <p:nvPr/>
        </p:nvSpPr>
        <p:spPr bwMode="auto">
          <a:xfrm flipH="1">
            <a:off x="5730875" y="4348163"/>
            <a:ext cx="0" cy="827088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33"/>
          <p:cNvSpPr>
            <a:spLocks noChangeShapeType="1"/>
          </p:cNvSpPr>
          <p:nvPr/>
        </p:nvSpPr>
        <p:spPr bwMode="auto">
          <a:xfrm flipH="1">
            <a:off x="6102350" y="3708401"/>
            <a:ext cx="0" cy="1862138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 flipH="1">
            <a:off x="10834688" y="4605338"/>
            <a:ext cx="0" cy="536575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 flipH="1">
            <a:off x="8186738" y="4508501"/>
            <a:ext cx="0" cy="11303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 flipH="1">
            <a:off x="10063163" y="4033838"/>
            <a:ext cx="0" cy="207645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 flipH="1">
            <a:off x="10274300" y="3919538"/>
            <a:ext cx="0" cy="16510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 flipH="1">
            <a:off x="10452100" y="4341813"/>
            <a:ext cx="0" cy="657225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 flipH="1">
            <a:off x="10644188" y="4595813"/>
            <a:ext cx="0" cy="546100"/>
          </a:xfrm>
          <a:prstGeom prst="line">
            <a:avLst/>
          </a:prstGeom>
          <a:noFill/>
          <a:ln w="12700" cap="flat">
            <a:solidFill>
              <a:srgbClr val="E5E5E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 flipH="1">
            <a:off x="9883775" y="4327526"/>
            <a:ext cx="0" cy="814388"/>
          </a:xfrm>
          <a:prstGeom prst="line">
            <a:avLst/>
          </a:prstGeom>
          <a:noFill/>
          <a:ln w="12700" cap="flat">
            <a:solidFill>
              <a:srgbClr val="D8D8D8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44"/>
          <p:cNvSpPr>
            <a:spLocks noChangeShapeType="1"/>
          </p:cNvSpPr>
          <p:nvPr/>
        </p:nvSpPr>
        <p:spPr bwMode="auto">
          <a:xfrm flipH="1">
            <a:off x="8572500" y="4137026"/>
            <a:ext cx="0" cy="1722438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45"/>
          <p:cNvSpPr>
            <a:spLocks noChangeShapeType="1"/>
          </p:cNvSpPr>
          <p:nvPr/>
        </p:nvSpPr>
        <p:spPr bwMode="auto">
          <a:xfrm flipH="1">
            <a:off x="9705975" y="4387851"/>
            <a:ext cx="0" cy="1577975"/>
          </a:xfrm>
          <a:prstGeom prst="line">
            <a:avLst/>
          </a:prstGeom>
          <a:noFill/>
          <a:ln w="12700" cap="flat">
            <a:solidFill>
              <a:srgbClr val="CCCCC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46"/>
          <p:cNvSpPr>
            <a:spLocks noChangeShapeType="1"/>
          </p:cNvSpPr>
          <p:nvPr/>
        </p:nvSpPr>
        <p:spPr bwMode="auto">
          <a:xfrm flipH="1">
            <a:off x="8753475" y="3976688"/>
            <a:ext cx="0" cy="1249363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47"/>
          <p:cNvSpPr>
            <a:spLocks noChangeShapeType="1"/>
          </p:cNvSpPr>
          <p:nvPr/>
        </p:nvSpPr>
        <p:spPr bwMode="auto">
          <a:xfrm flipH="1">
            <a:off x="9513888" y="3346451"/>
            <a:ext cx="0" cy="2619375"/>
          </a:xfrm>
          <a:prstGeom prst="line">
            <a:avLst/>
          </a:prstGeom>
          <a:noFill/>
          <a:ln w="12700" cap="flat">
            <a:solidFill>
              <a:srgbClr val="BCBCB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48"/>
          <p:cNvSpPr>
            <a:spLocks noChangeShapeType="1"/>
          </p:cNvSpPr>
          <p:nvPr/>
        </p:nvSpPr>
        <p:spPr bwMode="auto">
          <a:xfrm flipH="1">
            <a:off x="8940800" y="4137026"/>
            <a:ext cx="0" cy="1393825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49"/>
          <p:cNvSpPr>
            <a:spLocks noChangeShapeType="1"/>
          </p:cNvSpPr>
          <p:nvPr/>
        </p:nvSpPr>
        <p:spPr bwMode="auto">
          <a:xfrm flipH="1">
            <a:off x="9323388" y="4387851"/>
            <a:ext cx="0" cy="1631950"/>
          </a:xfrm>
          <a:prstGeom prst="line">
            <a:avLst/>
          </a:prstGeom>
          <a:noFill/>
          <a:ln w="12700" cap="flat">
            <a:solidFill>
              <a:srgbClr val="A5A5A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9069388" y="3316288"/>
            <a:ext cx="123825" cy="2794000"/>
            <a:chOff x="9069388" y="3316288"/>
            <a:chExt cx="123825" cy="2794000"/>
          </a:xfrm>
        </p:grpSpPr>
        <p:sp>
          <p:nvSpPr>
            <p:cNvPr id="52" name="Line 50"/>
            <p:cNvSpPr>
              <a:spLocks noChangeShapeType="1"/>
            </p:cNvSpPr>
            <p:nvPr/>
          </p:nvSpPr>
          <p:spPr bwMode="auto">
            <a:xfrm flipH="1">
              <a:off x="9132888" y="3443288"/>
              <a:ext cx="0" cy="2667000"/>
            </a:xfrm>
            <a:prstGeom prst="line">
              <a:avLst/>
            </a:prstGeom>
            <a:noFill/>
            <a:ln w="12700" cap="flat">
              <a:solidFill>
                <a:srgbClr val="00447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Oval 51"/>
            <p:cNvSpPr>
              <a:spLocks noChangeArrowheads="1"/>
            </p:cNvSpPr>
            <p:nvPr/>
          </p:nvSpPr>
          <p:spPr bwMode="auto">
            <a:xfrm>
              <a:off x="9069388" y="3316288"/>
              <a:ext cx="123825" cy="127000"/>
            </a:xfrm>
            <a:prstGeom prst="ellipse">
              <a:avLst/>
            </a:prstGeom>
            <a:noFill/>
            <a:ln w="12700" cap="flat">
              <a:solidFill>
                <a:srgbClr val="00447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984625" y="3717926"/>
            <a:ext cx="80963" cy="1384300"/>
            <a:chOff x="3984625" y="3717926"/>
            <a:chExt cx="80963" cy="1384300"/>
          </a:xfrm>
        </p:grpSpPr>
        <p:sp>
          <p:nvSpPr>
            <p:cNvPr id="55" name="Line 7"/>
            <p:cNvSpPr>
              <a:spLocks noChangeShapeType="1"/>
            </p:cNvSpPr>
            <p:nvPr/>
          </p:nvSpPr>
          <p:spPr bwMode="auto">
            <a:xfrm flipH="1">
              <a:off x="4025900" y="3805238"/>
              <a:ext cx="0" cy="1296988"/>
            </a:xfrm>
            <a:prstGeom prst="line">
              <a:avLst/>
            </a:prstGeom>
            <a:noFill/>
            <a:ln w="12700" cap="flat">
              <a:solidFill>
                <a:srgbClr val="E2E2E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Oval 52"/>
            <p:cNvSpPr>
              <a:spLocks noChangeArrowheads="1"/>
            </p:cNvSpPr>
            <p:nvPr/>
          </p:nvSpPr>
          <p:spPr bwMode="auto">
            <a:xfrm>
              <a:off x="3984625" y="3717926"/>
              <a:ext cx="80963" cy="80963"/>
            </a:xfrm>
            <a:prstGeom prst="ellipse">
              <a:avLst/>
            </a:prstGeom>
            <a:noFill/>
            <a:ln w="12700" cap="flat">
              <a:solidFill>
                <a:srgbClr val="E2E2E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7" name="文本框 56"/>
          <p:cNvSpPr txBox="1"/>
          <p:nvPr/>
        </p:nvSpPr>
        <p:spPr>
          <a:xfrm>
            <a:off x="2243515" y="2545170"/>
            <a:ext cx="122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正相关性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5353436" y="2539145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Star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倒挂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8726489" y="25429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指标优势</a:t>
            </a:r>
          </a:p>
        </p:txBody>
      </p:sp>
      <p:grpSp>
        <p:nvGrpSpPr>
          <p:cNvPr id="64" name="组合 63"/>
          <p:cNvGrpSpPr/>
          <p:nvPr/>
        </p:nvGrpSpPr>
        <p:grpSpPr>
          <a:xfrm>
            <a:off x="8342313" y="3847839"/>
            <a:ext cx="82550" cy="1414724"/>
            <a:chOff x="8342313" y="3847839"/>
            <a:chExt cx="82550" cy="1414724"/>
          </a:xfrm>
        </p:grpSpPr>
        <p:sp>
          <p:nvSpPr>
            <p:cNvPr id="60" name="Oval 53"/>
            <p:cNvSpPr>
              <a:spLocks noChangeArrowheads="1"/>
            </p:cNvSpPr>
            <p:nvPr/>
          </p:nvSpPr>
          <p:spPr bwMode="auto">
            <a:xfrm>
              <a:off x="8342313" y="3847839"/>
              <a:ext cx="82550" cy="79375"/>
            </a:xfrm>
            <a:prstGeom prst="ellipse">
              <a:avLst/>
            </a:prstGeom>
            <a:noFill/>
            <a:ln w="12700" cap="flat">
              <a:solidFill>
                <a:srgbClr val="E2E2E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42"/>
            <p:cNvSpPr>
              <a:spLocks noChangeShapeType="1"/>
            </p:cNvSpPr>
            <p:nvPr/>
          </p:nvSpPr>
          <p:spPr bwMode="auto">
            <a:xfrm flipH="1">
              <a:off x="8382000" y="3922713"/>
              <a:ext cx="0" cy="1339850"/>
            </a:xfrm>
            <a:prstGeom prst="line">
              <a:avLst/>
            </a:prstGeom>
            <a:noFill/>
            <a:ln w="12700" cap="flat">
              <a:solidFill>
                <a:srgbClr val="D8D8D8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矩形 65"/>
          <p:cNvSpPr/>
          <p:nvPr/>
        </p:nvSpPr>
        <p:spPr>
          <a:xfrm rot="16200000">
            <a:off x="5249107" y="3562960"/>
            <a:ext cx="11112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Calibri"/>
                <a:ea typeface="微软雅黑" panose="020B0503020204020204" pitchFamily="34" charset="-122"/>
              </a:rPr>
              <a:t>TITLE </a:t>
            </a:r>
            <a:r>
              <a:rPr lang="en-US" altLang="zh-CN" sz="1600" dirty="0">
                <a:latin typeface="Calibri"/>
                <a:ea typeface="微软雅黑" panose="020B0503020204020204" pitchFamily="34" charset="-122"/>
              </a:rPr>
              <a:t>HERE</a:t>
            </a:r>
            <a:endParaRPr lang="zh-CN" altLang="en-US" sz="1600" dirty="0"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 rot="16200000">
            <a:off x="8469020" y="3796967"/>
            <a:ext cx="11112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Calibri"/>
                <a:ea typeface="微软雅黑" panose="020B0503020204020204" pitchFamily="34" charset="-122"/>
              </a:rPr>
              <a:t>TITLE </a:t>
            </a:r>
            <a:r>
              <a:rPr lang="en-US" altLang="zh-CN" sz="1600" dirty="0">
                <a:latin typeface="Calibri"/>
                <a:ea typeface="微软雅黑" panose="020B0503020204020204" pitchFamily="34" charset="-122"/>
              </a:rPr>
              <a:t>HERE</a:t>
            </a:r>
            <a:endParaRPr lang="zh-CN" altLang="en-US" sz="1600" dirty="0"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531015" y="1031890"/>
            <a:ext cx="688594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通过深入分析排名结果，我们得出了几点有趣的结论。首先，高分项目无一例外都拥有活跃的维护团队和快速的 </a:t>
            </a:r>
            <a:r>
              <a:rPr lang="en-US" altLang="zh-CN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 </a:t>
            </a:r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处理速度。其次，我们验证了 “</a:t>
            </a:r>
            <a:r>
              <a:rPr lang="en-US" altLang="zh-CN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 </a:t>
            </a:r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数不等于健康度” 的假设</a:t>
            </a:r>
            <a:r>
              <a:rPr lang="en-US" altLang="zh-CN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部分曾经红极一时的项目，因为近一年缺乏维护，在我们的模型中排名大幅下滑。这证明了引入多维复合指标的必要性，我们的模型比单一的 </a:t>
            </a:r>
            <a:r>
              <a:rPr lang="en-US" altLang="zh-CN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 </a:t>
            </a:r>
            <a:r>
              <a:rPr lang="zh-CN" altLang="en-US" sz="14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数更能敏锐地捕捉到项目 “生命体征” 的变化。</a:t>
            </a:r>
          </a:p>
        </p:txBody>
      </p:sp>
      <p:pic>
        <p:nvPicPr>
          <p:cNvPr id="72" name="图形 71">
            <a:extLst>
              <a:ext uri="{FF2B5EF4-FFF2-40B4-BE49-F238E27FC236}">
                <a16:creationId xmlns:a16="http://schemas.microsoft.com/office/drawing/2014/main" id="{A79B5C7B-DAAC-0669-400D-DBCD3BA79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43636756-3564-2119-929B-2D0C7F7D3FEF}"/>
              </a:ext>
            </a:extLst>
          </p:cNvPr>
          <p:cNvSpPr txBox="1"/>
          <p:nvPr/>
        </p:nvSpPr>
        <p:spPr>
          <a:xfrm>
            <a:off x="446201" y="419046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05-1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8F77C7B-EA67-4A26-A3F3-9A2E688F2051}"/>
              </a:ext>
            </a:extLst>
          </p:cNvPr>
          <p:cNvSpPr txBox="1"/>
          <p:nvPr/>
        </p:nvSpPr>
        <p:spPr>
          <a:xfrm>
            <a:off x="1233233" y="416688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实验结果分析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248F7F6-ED6C-6CF8-1A16-7FC0645CB354}"/>
              </a:ext>
            </a:extLst>
          </p:cNvPr>
          <p:cNvSpPr txBox="1"/>
          <p:nvPr/>
        </p:nvSpPr>
        <p:spPr>
          <a:xfrm>
            <a:off x="2038896" y="3211115"/>
            <a:ext cx="1384995" cy="248523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dirty="0"/>
              <a:t>健康度高的项目普遍具有持续的代码提交流和稳定的社区响应</a:t>
            </a:r>
            <a:r>
              <a:rPr lang="zh-CN" altLang="en-US" sz="2000" b="1" dirty="0"/>
              <a:t>。</a:t>
            </a:r>
          </a:p>
          <a:p>
            <a:endParaRPr lang="zh-CN" altLang="en-US" dirty="0"/>
          </a:p>
        </p:txBody>
      </p:sp>
      <p:sp>
        <p:nvSpPr>
          <p:cNvPr id="77" name="箭头: 下 76">
            <a:extLst>
              <a:ext uri="{FF2B5EF4-FFF2-40B4-BE49-F238E27FC236}">
                <a16:creationId xmlns:a16="http://schemas.microsoft.com/office/drawing/2014/main" id="{4136E933-CCB1-1D52-8745-6B772B74E066}"/>
              </a:ext>
            </a:extLst>
          </p:cNvPr>
          <p:cNvSpPr/>
          <p:nvPr/>
        </p:nvSpPr>
        <p:spPr>
          <a:xfrm>
            <a:off x="8171527" y="3153855"/>
            <a:ext cx="2253229" cy="3535250"/>
          </a:xfrm>
          <a:prstGeom prst="downArrow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C8146A0-B1F7-DDFF-C2BC-6C4A378B3733}"/>
              </a:ext>
            </a:extLst>
          </p:cNvPr>
          <p:cNvSpPr txBox="1"/>
          <p:nvPr/>
        </p:nvSpPr>
        <p:spPr>
          <a:xfrm>
            <a:off x="8720837" y="3211115"/>
            <a:ext cx="1107996" cy="27873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dirty="0"/>
              <a:t>相比单一指标，复合健康度能更全面、灵敏地反映项目生存状态。</a:t>
            </a:r>
          </a:p>
        </p:txBody>
      </p:sp>
      <p:sp>
        <p:nvSpPr>
          <p:cNvPr id="79" name="箭头: 下 78">
            <a:extLst>
              <a:ext uri="{FF2B5EF4-FFF2-40B4-BE49-F238E27FC236}">
                <a16:creationId xmlns:a16="http://schemas.microsoft.com/office/drawing/2014/main" id="{B50C95D9-8D47-EB32-CC45-FE55FCCB03C4}"/>
              </a:ext>
            </a:extLst>
          </p:cNvPr>
          <p:cNvSpPr/>
          <p:nvPr/>
        </p:nvSpPr>
        <p:spPr>
          <a:xfrm>
            <a:off x="4814483" y="3153855"/>
            <a:ext cx="2253229" cy="3535250"/>
          </a:xfrm>
          <a:prstGeom prst="downArrow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2260E24-4307-3399-8D89-5663CBC2B8C5}"/>
              </a:ext>
            </a:extLst>
          </p:cNvPr>
          <p:cNvSpPr txBox="1"/>
          <p:nvPr/>
        </p:nvSpPr>
        <p:spPr>
          <a:xfrm>
            <a:off x="5140883" y="3211115"/>
            <a:ext cx="1384995" cy="248523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dirty="0"/>
              <a:t>部分高 </a:t>
            </a:r>
            <a:r>
              <a:rPr lang="en-US" altLang="zh-CN" sz="2000" dirty="0"/>
              <a:t>Star </a:t>
            </a:r>
            <a:r>
              <a:rPr lang="zh-CN" altLang="en-US" sz="2000" dirty="0"/>
              <a:t>的老牌项目因维护停滞，健康度得分显著偏低。</a:t>
            </a:r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4307-1445-2FB2-6EC8-466877FB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形 4">
            <a:extLst>
              <a:ext uri="{FF2B5EF4-FFF2-40B4-BE49-F238E27FC236}">
                <a16:creationId xmlns:a16="http://schemas.microsoft.com/office/drawing/2014/main" id="{72D2AE16-4402-1496-0C4C-4C487E77A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3940175" y="1090295"/>
            <a:ext cx="7529830" cy="6283325"/>
          </a:xfrm>
          <a:prstGeom prst="rect">
            <a:avLst/>
          </a:prstGeom>
        </p:spPr>
      </p:pic>
      <p:sp>
        <p:nvSpPr>
          <p:cNvPr id="31" name="AutoShape 28">
            <a:extLst>
              <a:ext uri="{FF2B5EF4-FFF2-40B4-BE49-F238E27FC236}">
                <a16:creationId xmlns:a16="http://schemas.microsoft.com/office/drawing/2014/main" id="{1052CCD3-D133-B36C-1761-A721BBDECE2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C51552-C25B-CE2E-B6F3-4C375FB7AB8C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FCE913E-6CEE-AE09-6E43-F84607B496AA}"/>
              </a:ext>
            </a:extLst>
          </p:cNvPr>
          <p:cNvSpPr txBox="1"/>
          <p:nvPr/>
        </p:nvSpPr>
        <p:spPr>
          <a:xfrm>
            <a:off x="2316969" y="344444"/>
            <a:ext cx="948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影响力与健康度关系分析（</a:t>
            </a:r>
            <a:r>
              <a:rPr lang="en-US" altLang="zh-CN" sz="2400" b="1" dirty="0"/>
              <a:t>Impact vs Health</a:t>
            </a:r>
            <a:r>
              <a:rPr lang="zh-CN" altLang="en-US" sz="2400" b="1" dirty="0"/>
              <a:t>）</a:t>
            </a:r>
            <a:endParaRPr lang="zh-CN" altLang="en-US" sz="2400" b="1" dirty="0"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761F09-162E-3815-9CD3-5F4C68EAC9B2}"/>
              </a:ext>
            </a:extLst>
          </p:cNvPr>
          <p:cNvSpPr txBox="1"/>
          <p:nvPr/>
        </p:nvSpPr>
        <p:spPr>
          <a:xfrm>
            <a:off x="6603934" y="5481062"/>
            <a:ext cx="370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图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：影响力与健康度关系散点图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6A42EB7-CFD6-4D41-8BB3-2287ED15871F}"/>
              </a:ext>
            </a:extLst>
          </p:cNvPr>
          <p:cNvSpPr/>
          <p:nvPr/>
        </p:nvSpPr>
        <p:spPr>
          <a:xfrm>
            <a:off x="293594" y="339575"/>
            <a:ext cx="1671484" cy="508000"/>
          </a:xfrm>
          <a:prstGeom prst="roundRect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i="1" dirty="0">
                <a:solidFill>
                  <a:schemeClr val="tx1"/>
                </a:solidFill>
              </a:rPr>
              <a:t>分析角度二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358731-2E9A-9F1E-B2E8-EB2C4F06A2AD}"/>
              </a:ext>
            </a:extLst>
          </p:cNvPr>
          <p:cNvSpPr/>
          <p:nvPr/>
        </p:nvSpPr>
        <p:spPr>
          <a:xfrm>
            <a:off x="1129336" y="1387113"/>
            <a:ext cx="342750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分析目标</a:t>
            </a:r>
            <a:r>
              <a:rPr lang="en-US" altLang="zh-CN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探究开源项目社区影响力与综合健康度之间的关系，验证单一指标的局限性。</a:t>
            </a:r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分析方法</a:t>
            </a:r>
            <a:r>
              <a:rPr lang="en-US" altLang="zh-CN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对项目 </a:t>
            </a:r>
            <a:r>
              <a:rPr lang="en-US" altLang="zh-CN" sz="2000" dirty="0" err="1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OpenRank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000" dirty="0" err="1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HealthScore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进行对比分析，观察二者的相关关系与差异分布。</a:t>
            </a:r>
          </a:p>
        </p:txBody>
      </p:sp>
      <p:pic>
        <p:nvPicPr>
          <p:cNvPr id="3" name="图片 2" descr="图表, 散点图&#10;&#10;AI 生成的内容可能不正确。">
            <a:extLst>
              <a:ext uri="{FF2B5EF4-FFF2-40B4-BE49-F238E27FC236}">
                <a16:creationId xmlns:a16="http://schemas.microsoft.com/office/drawing/2014/main" id="{FB58B473-5BB1-8509-FF71-1B5C1016C133}"/>
              </a:ext>
            </a:extLst>
          </p:cNvPr>
          <p:cNvPicPr>
            <a:picLocks/>
          </p:cNvPicPr>
          <p:nvPr/>
        </p:nvPicPr>
        <p:blipFill>
          <a:blip r:embed="rId4"/>
          <a:srcRect l="1125" t="7160" r="-1125" b="-7160"/>
          <a:stretch>
            <a:fillRect/>
          </a:stretch>
        </p:blipFill>
        <p:spPr>
          <a:xfrm>
            <a:off x="5259058" y="923247"/>
            <a:ext cx="5803606" cy="474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3172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2BD5-37FD-591F-DFCA-A15D1A0D9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8">
            <a:extLst>
              <a:ext uri="{FF2B5EF4-FFF2-40B4-BE49-F238E27FC236}">
                <a16:creationId xmlns:a16="http://schemas.microsoft.com/office/drawing/2014/main" id="{45D81C75-6344-8A79-9CD2-A3F9CF372AF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E0F6A13D-5515-278D-124D-125472EFD5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834688" y="4605338"/>
            <a:ext cx="0" cy="536575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" name="图形 71">
            <a:extLst>
              <a:ext uri="{FF2B5EF4-FFF2-40B4-BE49-F238E27FC236}">
                <a16:creationId xmlns:a16="http://schemas.microsoft.com/office/drawing/2014/main" id="{AE029F33-9795-C394-0E46-323E3D432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3AAD8428-9431-E7B7-171A-7CA093F69F9D}"/>
              </a:ext>
            </a:extLst>
          </p:cNvPr>
          <p:cNvSpPr txBox="1"/>
          <p:nvPr/>
        </p:nvSpPr>
        <p:spPr>
          <a:xfrm>
            <a:off x="446201" y="419046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05-2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12EDEC1-9562-12AA-0517-A5895E18C566}"/>
              </a:ext>
            </a:extLst>
          </p:cNvPr>
          <p:cNvSpPr txBox="1"/>
          <p:nvPr/>
        </p:nvSpPr>
        <p:spPr>
          <a:xfrm>
            <a:off x="1244573" y="310825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实验结果分析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75F262AA-6451-0424-C3FD-71031BA46610}"/>
              </a:ext>
            </a:extLst>
          </p:cNvPr>
          <p:cNvSpPr/>
          <p:nvPr/>
        </p:nvSpPr>
        <p:spPr>
          <a:xfrm>
            <a:off x="1572589" y="2789341"/>
            <a:ext cx="8948948" cy="1633271"/>
          </a:xfrm>
          <a:prstGeom prst="roundRect">
            <a:avLst/>
          </a:prstGeom>
          <a:solidFill>
            <a:srgbClr val="C6D5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/>
              <a:t>② 项目影响力高 ≠ 项目一定健康</a:t>
            </a:r>
            <a:r>
              <a:rPr lang="en-US" altLang="zh-CN" sz="2400" b="1" dirty="0"/>
              <a:t>:</a:t>
            </a:r>
            <a:endParaRPr lang="zh-CN" altLang="en-US" sz="2400" b="1" dirty="0"/>
          </a:p>
          <a:p>
            <a:r>
              <a:rPr lang="zh-CN" altLang="en-US" dirty="0"/>
              <a:t>例如 </a:t>
            </a:r>
            <a:r>
              <a:rPr lang="en-US" altLang="zh-CN" i="1" dirty="0" err="1"/>
              <a:t>ValveSoftware</a:t>
            </a:r>
            <a:r>
              <a:rPr lang="zh-CN" altLang="en-US" dirty="0"/>
              <a:t> 等项目，虽然 </a:t>
            </a:r>
            <a:r>
              <a:rPr lang="en-US" altLang="zh-CN" dirty="0" err="1"/>
              <a:t>OpenRank</a:t>
            </a:r>
            <a:r>
              <a:rPr lang="en-US" altLang="zh-CN" dirty="0"/>
              <a:t> </a:t>
            </a:r>
            <a:r>
              <a:rPr lang="zh-CN" altLang="en-US" dirty="0"/>
              <a:t>较高，说明其在社区中具有较强的知名度和关注度，但其健康度并未同步提升。这表明</a:t>
            </a:r>
            <a:r>
              <a:rPr lang="zh-CN" altLang="en-US" b="1" dirty="0"/>
              <a:t>影响力指标无法单独反映项目的长期可持续性</a:t>
            </a:r>
            <a:r>
              <a:rPr lang="zh-CN" altLang="en-US" dirty="0"/>
              <a:t>，项目治理、活跃贡献者结构等因素同样重要。</a:t>
            </a:r>
          </a:p>
          <a:p>
            <a:pPr algn="ctr"/>
            <a:endParaRPr lang="zh-CN" altLang="en-US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2F2CF80C-CF54-4FBE-06A9-E8947CCFB19E}"/>
              </a:ext>
            </a:extLst>
          </p:cNvPr>
          <p:cNvSpPr/>
          <p:nvPr/>
        </p:nvSpPr>
        <p:spPr>
          <a:xfrm>
            <a:off x="1572588" y="4808041"/>
            <a:ext cx="8948945" cy="1633271"/>
          </a:xfrm>
          <a:prstGeom prst="roundRect">
            <a:avLst/>
          </a:prstGeom>
          <a:solidFill>
            <a:srgbClr val="396E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/>
              <a:t>③ 存在“潜在优质项目”的识别空间</a:t>
            </a:r>
            <a:r>
              <a:rPr lang="en-US" altLang="zh-CN" sz="2400" b="1" dirty="0"/>
              <a:t>:</a:t>
            </a:r>
            <a:endParaRPr lang="zh-CN" altLang="en-US" sz="2400" b="1" dirty="0"/>
          </a:p>
          <a:p>
            <a:r>
              <a:rPr lang="zh-CN" altLang="en-US" dirty="0"/>
              <a:t>在中低影响力区间，仍有部分项目表现出相对更高的健康度，说明它们具备较好的内部活跃度和发展潜力，但尚未获得广泛关注。这类项目可以被视为“潜力型开源项目”，为后续社区扶持、资源投入和治理优化提供了决策依据。</a:t>
            </a:r>
          </a:p>
          <a:p>
            <a:pPr algn="ctr"/>
            <a:endParaRPr lang="zh-CN" altLang="en-US" dirty="0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9C5D7560-5240-14E3-5301-62F8A00FFEEA}"/>
              </a:ext>
            </a:extLst>
          </p:cNvPr>
          <p:cNvSpPr/>
          <p:nvPr/>
        </p:nvSpPr>
        <p:spPr>
          <a:xfrm>
            <a:off x="1572588" y="878353"/>
            <a:ext cx="8948949" cy="1633271"/>
          </a:xfrm>
          <a:prstGeom prst="roundRect">
            <a:avLst/>
          </a:prstGeom>
          <a:solidFill>
            <a:srgbClr val="719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/>
              <a:t>①开源生态呈现明显的“头部集中”结构：</a:t>
            </a:r>
          </a:p>
          <a:p>
            <a:r>
              <a:rPr lang="zh-CN" altLang="en-US" dirty="0"/>
              <a:t>从图中可以看出，只有极少数项目（如 </a:t>
            </a:r>
            <a:r>
              <a:rPr lang="en-US" altLang="zh-CN" i="1" dirty="0"/>
              <a:t>archway-network</a:t>
            </a:r>
            <a:r>
              <a:rPr lang="zh-CN" altLang="en-US" dirty="0"/>
              <a:t>、</a:t>
            </a:r>
            <a:r>
              <a:rPr lang="en-US" altLang="zh-CN" i="1" dirty="0"/>
              <a:t>education</a:t>
            </a:r>
            <a:r>
              <a:rPr lang="zh-CN" altLang="en-US" dirty="0"/>
              <a:t>）同时具备</a:t>
            </a:r>
            <a:r>
              <a:rPr lang="zh-CN" altLang="en-US" b="1" dirty="0"/>
              <a:t>高影响力（</a:t>
            </a:r>
            <a:r>
              <a:rPr lang="en-US" altLang="zh-CN" b="1" dirty="0" err="1"/>
              <a:t>OpenRank</a:t>
            </a:r>
            <a:r>
              <a:rPr lang="zh-CN" altLang="en-US" b="1" dirty="0"/>
              <a:t>）和高健康度</a:t>
            </a:r>
            <a:r>
              <a:rPr lang="zh-CN" altLang="en-US" dirty="0"/>
              <a:t>，而绝大多数项目集中在左下角，处于</a:t>
            </a:r>
            <a:r>
              <a:rPr lang="zh-CN" altLang="en-US" b="1" dirty="0"/>
              <a:t>低影响力、低健康度</a:t>
            </a:r>
            <a:r>
              <a:rPr lang="zh-CN" altLang="en-US" dirty="0"/>
              <a:t>状态。这说明开源生态存在明显的“二八效应”，头部项目占据了大部分社区资源与关注度。</a:t>
            </a:r>
          </a:p>
        </p:txBody>
      </p:sp>
    </p:spTree>
    <p:extLst>
      <p:ext uri="{BB962C8B-B14F-4D97-AF65-F5344CB8AC3E}">
        <p14:creationId xmlns:p14="http://schemas.microsoft.com/office/powerpoint/2010/main" val="147338540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536E2-A49F-48AA-FFFF-4BA4AC90B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形 4">
            <a:extLst>
              <a:ext uri="{FF2B5EF4-FFF2-40B4-BE49-F238E27FC236}">
                <a16:creationId xmlns:a16="http://schemas.microsoft.com/office/drawing/2014/main" id="{760DF1F3-CED3-E8A9-C99F-1BE92C08C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3940175" y="1090295"/>
            <a:ext cx="7529830" cy="6283325"/>
          </a:xfrm>
          <a:prstGeom prst="rect">
            <a:avLst/>
          </a:prstGeom>
        </p:spPr>
      </p:pic>
      <p:sp>
        <p:nvSpPr>
          <p:cNvPr id="31" name="AutoShape 28">
            <a:extLst>
              <a:ext uri="{FF2B5EF4-FFF2-40B4-BE49-F238E27FC236}">
                <a16:creationId xmlns:a16="http://schemas.microsoft.com/office/drawing/2014/main" id="{5364751D-0539-8160-4AD6-3ECF044B9E6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270D8D-E0EA-A92E-21B2-50994C37D889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9D6C8B-22E6-2CCC-6806-17B4959E4526}"/>
              </a:ext>
            </a:extLst>
          </p:cNvPr>
          <p:cNvSpPr txBox="1"/>
          <p:nvPr/>
        </p:nvSpPr>
        <p:spPr>
          <a:xfrm>
            <a:off x="2316969" y="344444"/>
            <a:ext cx="948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开源项目健康度结构特征分析（</a:t>
            </a:r>
            <a:r>
              <a:rPr lang="en-US" altLang="zh-CN" sz="2400" b="1" dirty="0"/>
              <a:t>Ranking Structure</a:t>
            </a:r>
            <a:r>
              <a:rPr lang="zh-CN" altLang="en-US" sz="2400" b="1" dirty="0"/>
              <a:t>）</a:t>
            </a:r>
            <a:endParaRPr lang="zh-CN" altLang="en-US" sz="2400" b="1" dirty="0"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925D15-737D-CC6F-43EE-92F4A7166599}"/>
              </a:ext>
            </a:extLst>
          </p:cNvPr>
          <p:cNvSpPr txBox="1"/>
          <p:nvPr/>
        </p:nvSpPr>
        <p:spPr>
          <a:xfrm>
            <a:off x="6525749" y="5771408"/>
            <a:ext cx="370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图</a:t>
            </a:r>
            <a:r>
              <a:rPr lang="en-US" altLang="zh-CN" dirty="0"/>
              <a:t>3</a:t>
            </a:r>
            <a:r>
              <a:rPr lang="zh-CN" altLang="en-US" dirty="0">
                <a:effectLst/>
              </a:rPr>
              <a:t>：健康度结构特征分析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F510D5B-C3EC-6A02-915C-97DAC8D10270}"/>
              </a:ext>
            </a:extLst>
          </p:cNvPr>
          <p:cNvSpPr/>
          <p:nvPr/>
        </p:nvSpPr>
        <p:spPr>
          <a:xfrm>
            <a:off x="293594" y="339575"/>
            <a:ext cx="1671484" cy="508000"/>
          </a:xfrm>
          <a:prstGeom prst="roundRect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i="1" dirty="0">
                <a:solidFill>
                  <a:schemeClr val="tx1"/>
                </a:solidFill>
              </a:rPr>
              <a:t>分析角度三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E94C20-7A9B-4B87-C76D-0FD634679042}"/>
              </a:ext>
            </a:extLst>
          </p:cNvPr>
          <p:cNvSpPr/>
          <p:nvPr/>
        </p:nvSpPr>
        <p:spPr>
          <a:xfrm>
            <a:off x="1129336" y="1387113"/>
            <a:ext cx="342750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分析目标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分析项目健康度在整体排名中的分布结构，判断健康度差异是否集中在少数头部项目。</a:t>
            </a:r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分析方法：</a:t>
            </a:r>
            <a:endParaRPr lang="en-US" altLang="zh-CN" sz="2000" b="1" dirty="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按照健康度排序，绘制排名</a:t>
            </a:r>
            <a:r>
              <a:rPr lang="en-US" altLang="zh-CN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000" dirty="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得分关系曲线，观察得分变化趋势。</a:t>
            </a:r>
          </a:p>
        </p:txBody>
      </p:sp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4AEDE2DE-9CF6-333E-0399-A8E31BE49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936" y="1008380"/>
            <a:ext cx="5379246" cy="438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7101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D5748-A48E-45A2-B22D-BA82796D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8">
            <a:extLst>
              <a:ext uri="{FF2B5EF4-FFF2-40B4-BE49-F238E27FC236}">
                <a16:creationId xmlns:a16="http://schemas.microsoft.com/office/drawing/2014/main" id="{3A0ACA89-A0A9-56F5-7D0D-13A535621C3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F5923D7E-232B-4DD9-37FF-0C2FFAD762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859429" y="4960249"/>
            <a:ext cx="0" cy="617203"/>
          </a:xfrm>
          <a:prstGeom prst="line">
            <a:avLst/>
          </a:prstGeom>
          <a:noFill/>
          <a:ln w="12700" cap="flat">
            <a:solidFill>
              <a:srgbClr val="F2F2F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" name="图形 71">
            <a:extLst>
              <a:ext uri="{FF2B5EF4-FFF2-40B4-BE49-F238E27FC236}">
                <a16:creationId xmlns:a16="http://schemas.microsoft.com/office/drawing/2014/main" id="{FF51C558-A076-6C9A-6638-8858F9B1B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D4C2E6BC-58BE-3978-03D3-5BBEEA5CA8D0}"/>
              </a:ext>
            </a:extLst>
          </p:cNvPr>
          <p:cNvSpPr txBox="1"/>
          <p:nvPr/>
        </p:nvSpPr>
        <p:spPr>
          <a:xfrm>
            <a:off x="446201" y="419046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05-3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9778926-ADBC-A3B2-D5D7-0D87CCA5BA92}"/>
              </a:ext>
            </a:extLst>
          </p:cNvPr>
          <p:cNvSpPr txBox="1"/>
          <p:nvPr/>
        </p:nvSpPr>
        <p:spPr>
          <a:xfrm>
            <a:off x="1244573" y="310825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实验结果分析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1D907A7-AE47-1F0C-542B-9A676CE4CF08}"/>
              </a:ext>
            </a:extLst>
          </p:cNvPr>
          <p:cNvSpPr/>
          <p:nvPr/>
        </p:nvSpPr>
        <p:spPr>
          <a:xfrm>
            <a:off x="2221674" y="1008379"/>
            <a:ext cx="7425047" cy="5135121"/>
          </a:xfrm>
          <a:prstGeom prst="roundRect">
            <a:avLst/>
          </a:prstGeom>
          <a:solidFill>
            <a:srgbClr val="719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E2DD727-6C2D-7E97-9BF9-ECEC5ED08943}"/>
              </a:ext>
            </a:extLst>
          </p:cNvPr>
          <p:cNvSpPr/>
          <p:nvPr/>
        </p:nvSpPr>
        <p:spPr>
          <a:xfrm>
            <a:off x="2374074" y="1160779"/>
            <a:ext cx="7425047" cy="5135121"/>
          </a:xfrm>
          <a:prstGeom prst="roundRect">
            <a:avLst/>
          </a:prstGeom>
          <a:solidFill>
            <a:srgbClr val="719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E4CCB6C-6321-24C6-C8E9-EBCDFBFF3A03}"/>
              </a:ext>
            </a:extLst>
          </p:cNvPr>
          <p:cNvSpPr/>
          <p:nvPr/>
        </p:nvSpPr>
        <p:spPr>
          <a:xfrm>
            <a:off x="2526474" y="1313179"/>
            <a:ext cx="7425047" cy="5135121"/>
          </a:xfrm>
          <a:prstGeom prst="roundRect">
            <a:avLst/>
          </a:prstGeom>
          <a:solidFill>
            <a:srgbClr val="719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285F864-80BA-7AE9-25FD-9BEB29412FCA}"/>
              </a:ext>
            </a:extLst>
          </p:cNvPr>
          <p:cNvSpPr/>
          <p:nvPr/>
        </p:nvSpPr>
        <p:spPr>
          <a:xfrm>
            <a:off x="2678874" y="1465579"/>
            <a:ext cx="7425047" cy="5135121"/>
          </a:xfrm>
          <a:prstGeom prst="roundRect">
            <a:avLst/>
          </a:prstGeom>
          <a:solidFill>
            <a:srgbClr val="719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整体呈现“中低值集中 </a:t>
            </a:r>
            <a:r>
              <a:rPr lang="en-US" altLang="zh-CN" sz="2000" b="1" dirty="0"/>
              <a:t>+ </a:t>
            </a:r>
            <a:r>
              <a:rPr lang="zh-CN" altLang="en-US" sz="2000" b="1" dirty="0"/>
              <a:t>高值稀疏”的长尾分布结构</a:t>
            </a:r>
          </a:p>
          <a:p>
            <a:r>
              <a:rPr lang="zh-CN" altLang="en-US" dirty="0"/>
              <a:t>大多数开源项目的健康度集中分布在 </a:t>
            </a:r>
            <a:r>
              <a:rPr lang="en-US" altLang="zh-CN" dirty="0"/>
              <a:t>0.1–0.6 </a:t>
            </a:r>
            <a:r>
              <a:rPr lang="zh-CN" altLang="en-US" dirty="0"/>
              <a:t>区间，其中在 </a:t>
            </a:r>
            <a:r>
              <a:rPr lang="en-US" altLang="zh-CN" dirty="0"/>
              <a:t>0.3–0.5 </a:t>
            </a:r>
            <a:r>
              <a:rPr lang="zh-CN" altLang="en-US" dirty="0"/>
              <a:t>区间形成明显的主峰，而 接近 </a:t>
            </a:r>
            <a:r>
              <a:rPr lang="en-US" altLang="zh-CN" dirty="0"/>
              <a:t>1.0 </a:t>
            </a:r>
            <a:r>
              <a:rPr lang="zh-CN" altLang="en-US" dirty="0"/>
              <a:t>的高健康度项目数量极少，呈现出典型的右偏长尾分布。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健康度存在稳定的“中间层结构”</a:t>
            </a:r>
          </a:p>
          <a:p>
            <a:r>
              <a:rPr lang="zh-CN" altLang="en-US" dirty="0"/>
              <a:t>图中并未出现明显的“双峰”或断层分布，而是在 </a:t>
            </a:r>
            <a:r>
              <a:rPr lang="en-US" altLang="zh-CN" dirty="0"/>
              <a:t>0.2–0.6 </a:t>
            </a:r>
            <a:r>
              <a:rPr lang="zh-CN" altLang="en-US" dirty="0"/>
              <a:t>区间形成连续、密集的分布带，说明开源项目并非简单分为“健康 </a:t>
            </a:r>
            <a:r>
              <a:rPr lang="en-US" altLang="zh-CN" dirty="0"/>
              <a:t>/ </a:t>
            </a:r>
            <a:r>
              <a:rPr lang="zh-CN" altLang="en-US" dirty="0"/>
              <a:t>不健康”两类，而是存在大量 处于不同发展阶段的中间状态项目。</a:t>
            </a:r>
            <a:endParaRPr lang="en-US" altLang="zh-CN" dirty="0"/>
          </a:p>
          <a:p>
            <a:endParaRPr lang="zh-CN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高健康度项目数量少</a:t>
            </a:r>
          </a:p>
          <a:p>
            <a:r>
              <a:rPr lang="zh-CN" altLang="en-US" dirty="0"/>
              <a:t>健康度接近 </a:t>
            </a:r>
            <a:r>
              <a:rPr lang="en-US" altLang="zh-CN" dirty="0"/>
              <a:t>0.8–1.0 </a:t>
            </a:r>
            <a:r>
              <a:rPr lang="zh-CN" altLang="en-US" dirty="0"/>
              <a:t>的项目数量极少，但依然被模型有效区分出来，说明当前健康度计算方式在 </a:t>
            </a:r>
            <a:r>
              <a:rPr lang="zh-CN" altLang="en-US" b="1" dirty="0"/>
              <a:t>区分头部项目与普通项目</a:t>
            </a:r>
            <a:r>
              <a:rPr lang="zh-CN" altLang="en-US" dirty="0"/>
              <a:t>方面具有较好的判别力，而非简单“压缩”所有项目到相近区间。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08501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7934-5D52-A0B5-7775-CBB49FAA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形 4">
            <a:extLst>
              <a:ext uri="{FF2B5EF4-FFF2-40B4-BE49-F238E27FC236}">
                <a16:creationId xmlns:a16="http://schemas.microsoft.com/office/drawing/2014/main" id="{043E5B7E-FBAC-3EA1-0170-764D560B9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3940175" y="1090295"/>
            <a:ext cx="7529830" cy="6283325"/>
          </a:xfrm>
          <a:prstGeom prst="rect">
            <a:avLst/>
          </a:prstGeom>
        </p:spPr>
      </p:pic>
      <p:sp>
        <p:nvSpPr>
          <p:cNvPr id="31" name="AutoShape 28">
            <a:extLst>
              <a:ext uri="{FF2B5EF4-FFF2-40B4-BE49-F238E27FC236}">
                <a16:creationId xmlns:a16="http://schemas.microsoft.com/office/drawing/2014/main" id="{AF354DA4-2857-1B61-A6B2-AE597FFC50D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2E6C0A-D0B1-F7D5-B204-287223A7F1E6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5DA6D2-E4B5-DD3B-DBAE-103379996341}"/>
              </a:ext>
            </a:extLst>
          </p:cNvPr>
          <p:cNvSpPr txBox="1"/>
          <p:nvPr/>
        </p:nvSpPr>
        <p:spPr>
          <a:xfrm>
            <a:off x="2316969" y="344444"/>
            <a:ext cx="948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项目活跃度时间稳定性分析（</a:t>
            </a:r>
            <a:r>
              <a:rPr lang="en-US" altLang="zh-CN" sz="2400" b="1" dirty="0"/>
              <a:t>Temporal Stability</a:t>
            </a:r>
            <a:r>
              <a:rPr lang="zh-CN" altLang="en-US" sz="2400" b="1" dirty="0"/>
              <a:t>）</a:t>
            </a:r>
            <a:endParaRPr lang="zh-CN" altLang="en-US" sz="2400" b="1" dirty="0"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309F43-34A6-65AD-957C-DC30616776C1}"/>
              </a:ext>
            </a:extLst>
          </p:cNvPr>
          <p:cNvSpPr txBox="1"/>
          <p:nvPr/>
        </p:nvSpPr>
        <p:spPr>
          <a:xfrm>
            <a:off x="7412433" y="5480541"/>
            <a:ext cx="370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图</a:t>
            </a:r>
            <a:r>
              <a:rPr lang="en-US" altLang="zh-CN" dirty="0"/>
              <a:t>4</a:t>
            </a:r>
            <a:r>
              <a:rPr lang="zh-CN" altLang="en-US" dirty="0">
                <a:effectLst/>
              </a:rPr>
              <a:t>：活跃度时间稳定性分析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5579928-A61E-CCCA-2E34-CBFC0A1C2753}"/>
              </a:ext>
            </a:extLst>
          </p:cNvPr>
          <p:cNvSpPr/>
          <p:nvPr/>
        </p:nvSpPr>
        <p:spPr>
          <a:xfrm>
            <a:off x="293594" y="339575"/>
            <a:ext cx="1671484" cy="508000"/>
          </a:xfrm>
          <a:prstGeom prst="roundRect">
            <a:avLst/>
          </a:prstGeom>
          <a:solidFill>
            <a:srgbClr val="EE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i="1" dirty="0">
                <a:solidFill>
                  <a:schemeClr val="tx1"/>
                </a:solidFill>
              </a:rPr>
              <a:t>分析角度四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CDA3FCE-73B5-084D-B032-343853A8A808}"/>
                  </a:ext>
                </a:extLst>
              </p:cNvPr>
              <p:cNvSpPr/>
              <p:nvPr/>
            </p:nvSpPr>
            <p:spPr>
              <a:xfrm>
                <a:off x="1380269" y="1387113"/>
                <a:ext cx="4569269" cy="4093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分析逻辑：</a:t>
                </a:r>
                <a:endParaRPr lang="en-US" altLang="zh-CN" sz="2000" b="1" dirty="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对核心指标 </a:t>
                </a:r>
                <a:r>
                  <a:rPr lang="en-US" altLang="zh-CN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 </a:t>
                </a:r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进行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Bootstrap 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重采样</a:t>
                </a:r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重复计算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d>
                          <m:dPr>
                            <m:ctrlPr>
                              <a:rPr lang="ar-AE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ar-AE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d>
                          <m:dPr>
                            <m:ctrlPr>
                              <a:rPr lang="ar-AE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ar-AE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ar-AE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d>
                          <m:dPr>
                            <m:ctrlPr>
                              <a:rPr lang="ar-AE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，观察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分布形态、均值、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95%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置信区间</a:t>
                </a:r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，判断模型是否稳定</a:t>
                </a:r>
                <a:endParaRPr lang="en-US" altLang="zh-CN" sz="2000" dirty="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b="1" dirty="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b="1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分析方法：</a:t>
                </a:r>
              </a:p>
              <a:p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采用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Bootstrap 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采样</a:t>
                </a:r>
                <a:r>
                  <a:rPr lang="en-US" altLang="zh-CN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X(b)∼Sample(</a:t>
                </a:r>
                <a:r>
                  <a:rPr lang="en-US" altLang="zh-CN" sz="2000" dirty="0" err="1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X,n,with</a:t>
                </a:r>
                <a:r>
                  <a:rPr lang="en-US" altLang="zh-CN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replacement)</a:t>
                </a:r>
                <a:r>
                  <a:rPr lang="zh-CN" altLang="en-US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，分别计算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指标和置信区间</a:t>
                </a: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M(b)=f(X(b))</a:t>
                </a:r>
              </a:p>
              <a:p>
                <a:r>
                  <a:rPr lang="it-IT" altLang="zh-CN" sz="2000" dirty="0">
                    <a:solidFill>
                      <a:sysClr val="window" lastClr="FFFFFF">
                        <a:lumMod val="50000"/>
                      </a:sys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CI95%	​=[Percentile2.5%	​(M),Percentile97.5%	​(M)]</a:t>
                </a:r>
                <a:endParaRPr lang="zh-CN" altLang="en-US" sz="2000" dirty="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CDA3FCE-73B5-084D-B032-343853A8A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269" y="1387113"/>
                <a:ext cx="4569269" cy="4093428"/>
              </a:xfrm>
              <a:prstGeom prst="rect">
                <a:avLst/>
              </a:prstGeom>
              <a:blipFill>
                <a:blip r:embed="rId4"/>
                <a:stretch>
                  <a:fillRect l="-1333" t="-894" r="-5200" b="-17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CE092C65-6A1F-1705-9BC6-CF1E8B71B5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28" y="1091412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9581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5"/>
          <p:cNvSpPr/>
          <p:nvPr/>
        </p:nvSpPr>
        <p:spPr bwMode="auto">
          <a:xfrm flipH="1">
            <a:off x="6831965" y="66675"/>
            <a:ext cx="5359400" cy="6604000"/>
          </a:xfrm>
          <a:custGeom>
            <a:avLst/>
            <a:gdLst>
              <a:gd name="T0" fmla="*/ 0 w 3376"/>
              <a:gd name="T1" fmla="*/ 0 h 4160"/>
              <a:gd name="T2" fmla="*/ 3376 w 3376"/>
              <a:gd name="T3" fmla="*/ 1881 h 4160"/>
              <a:gd name="T4" fmla="*/ 253 w 3376"/>
              <a:gd name="T5" fmla="*/ 4160 h 4160"/>
              <a:gd name="T6" fmla="*/ 0 w 3376"/>
              <a:gd name="T7" fmla="*/ 0 h 4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160">
                <a:moveTo>
                  <a:pt x="0" y="0"/>
                </a:moveTo>
                <a:lnTo>
                  <a:pt x="3376" y="1881"/>
                </a:lnTo>
                <a:lnTo>
                  <a:pt x="253" y="41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Freeform 6"/>
          <p:cNvSpPr/>
          <p:nvPr/>
        </p:nvSpPr>
        <p:spPr bwMode="auto">
          <a:xfrm flipH="1">
            <a:off x="6831965" y="57150"/>
            <a:ext cx="5359400" cy="6532245"/>
          </a:xfrm>
          <a:custGeom>
            <a:avLst/>
            <a:gdLst>
              <a:gd name="T0" fmla="*/ 0 w 3376"/>
              <a:gd name="T1" fmla="*/ 0 h 4115"/>
              <a:gd name="T2" fmla="*/ 3376 w 3376"/>
              <a:gd name="T3" fmla="*/ 1887 h 4115"/>
              <a:gd name="T4" fmla="*/ 217 w 3376"/>
              <a:gd name="T5" fmla="*/ 4115 h 4115"/>
              <a:gd name="T6" fmla="*/ 0 w 3376"/>
              <a:gd name="T7" fmla="*/ 0 h 4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115">
                <a:moveTo>
                  <a:pt x="0" y="0"/>
                </a:moveTo>
                <a:lnTo>
                  <a:pt x="3376" y="1887"/>
                </a:lnTo>
                <a:lnTo>
                  <a:pt x="217" y="41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Freeform 7"/>
          <p:cNvSpPr/>
          <p:nvPr/>
        </p:nvSpPr>
        <p:spPr bwMode="auto">
          <a:xfrm flipH="1">
            <a:off x="6831965" y="41275"/>
            <a:ext cx="5359400" cy="6473825"/>
          </a:xfrm>
          <a:custGeom>
            <a:avLst/>
            <a:gdLst>
              <a:gd name="T0" fmla="*/ 0 w 3376"/>
              <a:gd name="T1" fmla="*/ 0 h 4078"/>
              <a:gd name="T2" fmla="*/ 3376 w 3376"/>
              <a:gd name="T3" fmla="*/ 1897 h 4078"/>
              <a:gd name="T4" fmla="*/ 181 w 3376"/>
              <a:gd name="T5" fmla="*/ 4078 h 4078"/>
              <a:gd name="T6" fmla="*/ 0 w 3376"/>
              <a:gd name="T7" fmla="*/ 0 h 4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078">
                <a:moveTo>
                  <a:pt x="0" y="0"/>
                </a:moveTo>
                <a:lnTo>
                  <a:pt x="3376" y="1897"/>
                </a:lnTo>
                <a:lnTo>
                  <a:pt x="181" y="40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Freeform 8"/>
          <p:cNvSpPr/>
          <p:nvPr/>
        </p:nvSpPr>
        <p:spPr bwMode="auto">
          <a:xfrm flipH="1">
            <a:off x="6831965" y="33020"/>
            <a:ext cx="5359400" cy="6398895"/>
          </a:xfrm>
          <a:custGeom>
            <a:avLst/>
            <a:gdLst>
              <a:gd name="T0" fmla="*/ 0 w 3376"/>
              <a:gd name="T1" fmla="*/ 0 h 4031"/>
              <a:gd name="T2" fmla="*/ 3376 w 3376"/>
              <a:gd name="T3" fmla="*/ 1902 h 4031"/>
              <a:gd name="T4" fmla="*/ 144 w 3376"/>
              <a:gd name="T5" fmla="*/ 4031 h 4031"/>
              <a:gd name="T6" fmla="*/ 0 w 3376"/>
              <a:gd name="T7" fmla="*/ 0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4031">
                <a:moveTo>
                  <a:pt x="0" y="0"/>
                </a:moveTo>
                <a:lnTo>
                  <a:pt x="3376" y="1902"/>
                </a:lnTo>
                <a:lnTo>
                  <a:pt x="144" y="40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Freeform 9"/>
          <p:cNvSpPr/>
          <p:nvPr/>
        </p:nvSpPr>
        <p:spPr bwMode="auto">
          <a:xfrm flipH="1">
            <a:off x="6831965" y="25400"/>
            <a:ext cx="5359400" cy="6334125"/>
          </a:xfrm>
          <a:custGeom>
            <a:avLst/>
            <a:gdLst>
              <a:gd name="T0" fmla="*/ 0 w 3376"/>
              <a:gd name="T1" fmla="*/ 0 h 3990"/>
              <a:gd name="T2" fmla="*/ 3376 w 3376"/>
              <a:gd name="T3" fmla="*/ 1907 h 3990"/>
              <a:gd name="T4" fmla="*/ 108 w 3376"/>
              <a:gd name="T5" fmla="*/ 3990 h 3990"/>
              <a:gd name="T6" fmla="*/ 0 w 3376"/>
              <a:gd name="T7" fmla="*/ 0 h 3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989">
                <a:moveTo>
                  <a:pt x="0" y="0"/>
                </a:moveTo>
                <a:lnTo>
                  <a:pt x="3376" y="1907"/>
                </a:lnTo>
                <a:lnTo>
                  <a:pt x="108" y="39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Freeform 10"/>
          <p:cNvSpPr/>
          <p:nvPr/>
        </p:nvSpPr>
        <p:spPr bwMode="auto">
          <a:xfrm flipH="1">
            <a:off x="6831965" y="17145"/>
            <a:ext cx="5359400" cy="6259195"/>
          </a:xfrm>
          <a:custGeom>
            <a:avLst/>
            <a:gdLst>
              <a:gd name="T0" fmla="*/ 0 w 3376"/>
              <a:gd name="T1" fmla="*/ 0 h 3943"/>
              <a:gd name="T2" fmla="*/ 3376 w 3376"/>
              <a:gd name="T3" fmla="*/ 1912 h 3943"/>
              <a:gd name="T4" fmla="*/ 72 w 3376"/>
              <a:gd name="T5" fmla="*/ 3943 h 3943"/>
              <a:gd name="T6" fmla="*/ 0 w 3376"/>
              <a:gd name="T7" fmla="*/ 0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943">
                <a:moveTo>
                  <a:pt x="0" y="0"/>
                </a:moveTo>
                <a:lnTo>
                  <a:pt x="3376" y="1912"/>
                </a:lnTo>
                <a:lnTo>
                  <a:pt x="72" y="39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Freeform 11"/>
          <p:cNvSpPr/>
          <p:nvPr/>
        </p:nvSpPr>
        <p:spPr bwMode="auto">
          <a:xfrm flipH="1">
            <a:off x="6831965" y="7620"/>
            <a:ext cx="5359400" cy="6195695"/>
          </a:xfrm>
          <a:custGeom>
            <a:avLst/>
            <a:gdLst>
              <a:gd name="T0" fmla="*/ 0 w 3376"/>
              <a:gd name="T1" fmla="*/ 0 h 3903"/>
              <a:gd name="T2" fmla="*/ 3376 w 3376"/>
              <a:gd name="T3" fmla="*/ 1918 h 3903"/>
              <a:gd name="T4" fmla="*/ 36 w 3376"/>
              <a:gd name="T5" fmla="*/ 3903 h 3903"/>
              <a:gd name="T6" fmla="*/ 0 w 3376"/>
              <a:gd name="T7" fmla="*/ 0 h 3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903">
                <a:moveTo>
                  <a:pt x="0" y="0"/>
                </a:moveTo>
                <a:lnTo>
                  <a:pt x="3376" y="1918"/>
                </a:lnTo>
                <a:lnTo>
                  <a:pt x="36" y="39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Freeform 12"/>
          <p:cNvSpPr/>
          <p:nvPr/>
        </p:nvSpPr>
        <p:spPr bwMode="auto">
          <a:xfrm flipH="1">
            <a:off x="6831965" y="0"/>
            <a:ext cx="5359400" cy="6121400"/>
          </a:xfrm>
          <a:custGeom>
            <a:avLst/>
            <a:gdLst>
              <a:gd name="T0" fmla="*/ 0 w 3376"/>
              <a:gd name="T1" fmla="*/ 0 h 3856"/>
              <a:gd name="T2" fmla="*/ 3376 w 3376"/>
              <a:gd name="T3" fmla="*/ 1923 h 3856"/>
              <a:gd name="T4" fmla="*/ 0 w 3376"/>
              <a:gd name="T5" fmla="*/ 3856 h 3856"/>
              <a:gd name="T6" fmla="*/ 0 w 3376"/>
              <a:gd name="T7" fmla="*/ 0 h 3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76" h="3856">
                <a:moveTo>
                  <a:pt x="0" y="0"/>
                </a:moveTo>
                <a:lnTo>
                  <a:pt x="3376" y="1923"/>
                </a:lnTo>
                <a:lnTo>
                  <a:pt x="0" y="385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tile tx="0" ty="0" sx="100000" sy="100000" flip="none" algn="ctr"/>
          </a:blipFill>
          <a:ln w="3175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Freeform 13"/>
          <p:cNvSpPr/>
          <p:nvPr/>
        </p:nvSpPr>
        <p:spPr bwMode="auto">
          <a:xfrm flipH="1">
            <a:off x="-635" y="1746250"/>
            <a:ext cx="4104005" cy="5062220"/>
          </a:xfrm>
          <a:custGeom>
            <a:avLst/>
            <a:gdLst>
              <a:gd name="T0" fmla="*/ 2585 w 2585"/>
              <a:gd name="T1" fmla="*/ 3189 h 3189"/>
              <a:gd name="T2" fmla="*/ 0 w 2585"/>
              <a:gd name="T3" fmla="*/ 1747 h 3189"/>
              <a:gd name="T4" fmla="*/ 2394 w 2585"/>
              <a:gd name="T5" fmla="*/ 0 h 3189"/>
              <a:gd name="T6" fmla="*/ 2585 w 2585"/>
              <a:gd name="T7" fmla="*/ 3189 h 3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189">
                <a:moveTo>
                  <a:pt x="2585" y="3189"/>
                </a:moveTo>
                <a:lnTo>
                  <a:pt x="0" y="1747"/>
                </a:lnTo>
                <a:lnTo>
                  <a:pt x="2394" y="0"/>
                </a:lnTo>
                <a:lnTo>
                  <a:pt x="2585" y="3189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Freeform 14"/>
          <p:cNvSpPr/>
          <p:nvPr/>
        </p:nvSpPr>
        <p:spPr bwMode="auto">
          <a:xfrm flipH="1">
            <a:off x="-635" y="1811655"/>
            <a:ext cx="4104005" cy="5005070"/>
          </a:xfrm>
          <a:custGeom>
            <a:avLst/>
            <a:gdLst>
              <a:gd name="T0" fmla="*/ 2585 w 2585"/>
              <a:gd name="T1" fmla="*/ 3153 h 3153"/>
              <a:gd name="T2" fmla="*/ 0 w 2585"/>
              <a:gd name="T3" fmla="*/ 1706 h 3153"/>
              <a:gd name="T4" fmla="*/ 2419 w 2585"/>
              <a:gd name="T5" fmla="*/ 0 h 3153"/>
              <a:gd name="T6" fmla="*/ 2585 w 2585"/>
              <a:gd name="T7" fmla="*/ 3153 h 3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153">
                <a:moveTo>
                  <a:pt x="2585" y="3153"/>
                </a:moveTo>
                <a:lnTo>
                  <a:pt x="0" y="1706"/>
                </a:lnTo>
                <a:lnTo>
                  <a:pt x="2419" y="0"/>
                </a:lnTo>
                <a:lnTo>
                  <a:pt x="2585" y="3153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Freeform 15"/>
          <p:cNvSpPr/>
          <p:nvPr/>
        </p:nvSpPr>
        <p:spPr bwMode="auto">
          <a:xfrm flipH="1">
            <a:off x="-635" y="1868805"/>
            <a:ext cx="4104005" cy="4956175"/>
          </a:xfrm>
          <a:custGeom>
            <a:avLst/>
            <a:gdLst>
              <a:gd name="T0" fmla="*/ 2585 w 2585"/>
              <a:gd name="T1" fmla="*/ 3122 h 3122"/>
              <a:gd name="T2" fmla="*/ 0 w 2585"/>
              <a:gd name="T3" fmla="*/ 1670 h 3122"/>
              <a:gd name="T4" fmla="*/ 2445 w 2585"/>
              <a:gd name="T5" fmla="*/ 0 h 3122"/>
              <a:gd name="T6" fmla="*/ 2585 w 2585"/>
              <a:gd name="T7" fmla="*/ 3122 h 3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122">
                <a:moveTo>
                  <a:pt x="2585" y="3122"/>
                </a:moveTo>
                <a:lnTo>
                  <a:pt x="0" y="1670"/>
                </a:lnTo>
                <a:lnTo>
                  <a:pt x="2445" y="0"/>
                </a:lnTo>
                <a:lnTo>
                  <a:pt x="2585" y="3122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Freeform 16"/>
          <p:cNvSpPr/>
          <p:nvPr/>
        </p:nvSpPr>
        <p:spPr bwMode="auto">
          <a:xfrm flipH="1">
            <a:off x="-635" y="1927225"/>
            <a:ext cx="4104005" cy="4906645"/>
          </a:xfrm>
          <a:custGeom>
            <a:avLst/>
            <a:gdLst>
              <a:gd name="T0" fmla="*/ 2585 w 2585"/>
              <a:gd name="T1" fmla="*/ 3091 h 3091"/>
              <a:gd name="T2" fmla="*/ 0 w 2585"/>
              <a:gd name="T3" fmla="*/ 1633 h 3091"/>
              <a:gd name="T4" fmla="*/ 2476 w 2585"/>
              <a:gd name="T5" fmla="*/ 0 h 3091"/>
              <a:gd name="T6" fmla="*/ 2585 w 2585"/>
              <a:gd name="T7" fmla="*/ 3091 h 30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091">
                <a:moveTo>
                  <a:pt x="2585" y="3091"/>
                </a:moveTo>
                <a:lnTo>
                  <a:pt x="0" y="1633"/>
                </a:lnTo>
                <a:lnTo>
                  <a:pt x="2476" y="0"/>
                </a:lnTo>
                <a:lnTo>
                  <a:pt x="2585" y="3091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Freeform 17"/>
          <p:cNvSpPr/>
          <p:nvPr/>
        </p:nvSpPr>
        <p:spPr bwMode="auto">
          <a:xfrm flipH="1">
            <a:off x="-635" y="1992630"/>
            <a:ext cx="4104005" cy="4841875"/>
          </a:xfrm>
          <a:custGeom>
            <a:avLst/>
            <a:gdLst>
              <a:gd name="T0" fmla="*/ 2585 w 2585"/>
              <a:gd name="T1" fmla="*/ 3050 h 3050"/>
              <a:gd name="T2" fmla="*/ 0 w 2585"/>
              <a:gd name="T3" fmla="*/ 1592 h 3050"/>
              <a:gd name="T4" fmla="*/ 2502 w 2585"/>
              <a:gd name="T5" fmla="*/ 0 h 3050"/>
              <a:gd name="T6" fmla="*/ 2585 w 2585"/>
              <a:gd name="T7" fmla="*/ 3050 h 3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050">
                <a:moveTo>
                  <a:pt x="2585" y="3050"/>
                </a:moveTo>
                <a:lnTo>
                  <a:pt x="0" y="1592"/>
                </a:lnTo>
                <a:lnTo>
                  <a:pt x="2502" y="0"/>
                </a:lnTo>
                <a:lnTo>
                  <a:pt x="2585" y="3050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Freeform 18"/>
          <p:cNvSpPr/>
          <p:nvPr/>
        </p:nvSpPr>
        <p:spPr bwMode="auto">
          <a:xfrm flipH="1">
            <a:off x="-635" y="2049780"/>
            <a:ext cx="4104005" cy="4792345"/>
          </a:xfrm>
          <a:custGeom>
            <a:avLst/>
            <a:gdLst>
              <a:gd name="T0" fmla="*/ 2585 w 2585"/>
              <a:gd name="T1" fmla="*/ 3019 h 3019"/>
              <a:gd name="T2" fmla="*/ 0 w 2585"/>
              <a:gd name="T3" fmla="*/ 1556 h 3019"/>
              <a:gd name="T4" fmla="*/ 2533 w 2585"/>
              <a:gd name="T5" fmla="*/ 0 h 3019"/>
              <a:gd name="T6" fmla="*/ 2585 w 2585"/>
              <a:gd name="T7" fmla="*/ 3019 h 3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3019">
                <a:moveTo>
                  <a:pt x="2585" y="3019"/>
                </a:moveTo>
                <a:lnTo>
                  <a:pt x="0" y="1556"/>
                </a:lnTo>
                <a:lnTo>
                  <a:pt x="2533" y="0"/>
                </a:lnTo>
                <a:lnTo>
                  <a:pt x="2585" y="3019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Freeform 19"/>
          <p:cNvSpPr/>
          <p:nvPr/>
        </p:nvSpPr>
        <p:spPr bwMode="auto">
          <a:xfrm flipH="1">
            <a:off x="-635" y="2106930"/>
            <a:ext cx="4104005" cy="4743450"/>
          </a:xfrm>
          <a:custGeom>
            <a:avLst/>
            <a:gdLst>
              <a:gd name="T0" fmla="*/ 2585 w 2585"/>
              <a:gd name="T1" fmla="*/ 2988 h 2988"/>
              <a:gd name="T2" fmla="*/ 0 w 2585"/>
              <a:gd name="T3" fmla="*/ 1520 h 2988"/>
              <a:gd name="T4" fmla="*/ 2559 w 2585"/>
              <a:gd name="T5" fmla="*/ 0 h 2988"/>
              <a:gd name="T6" fmla="*/ 2585 w 2585"/>
              <a:gd name="T7" fmla="*/ 2988 h 29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2988">
                <a:moveTo>
                  <a:pt x="2585" y="2988"/>
                </a:moveTo>
                <a:lnTo>
                  <a:pt x="0" y="1520"/>
                </a:lnTo>
                <a:lnTo>
                  <a:pt x="2559" y="0"/>
                </a:lnTo>
                <a:lnTo>
                  <a:pt x="2585" y="2988"/>
                </a:lnTo>
                <a:close/>
              </a:path>
            </a:pathLst>
          </a:custGeom>
          <a:solidFill>
            <a:srgbClr val="FFFFFF"/>
          </a:solid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Freeform 20"/>
          <p:cNvSpPr/>
          <p:nvPr/>
        </p:nvSpPr>
        <p:spPr bwMode="auto">
          <a:xfrm flipH="1">
            <a:off x="-635" y="2165350"/>
            <a:ext cx="4104005" cy="4692650"/>
          </a:xfrm>
          <a:custGeom>
            <a:avLst/>
            <a:gdLst>
              <a:gd name="T0" fmla="*/ 2585 w 2585"/>
              <a:gd name="T1" fmla="*/ 2956 h 2956"/>
              <a:gd name="T2" fmla="*/ 0 w 2585"/>
              <a:gd name="T3" fmla="*/ 1483 h 2956"/>
              <a:gd name="T4" fmla="*/ 2585 w 2585"/>
              <a:gd name="T5" fmla="*/ 0 h 2956"/>
              <a:gd name="T6" fmla="*/ 2585 w 2585"/>
              <a:gd name="T7" fmla="*/ 2956 h 2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5" h="2956">
                <a:moveTo>
                  <a:pt x="2585" y="2956"/>
                </a:moveTo>
                <a:lnTo>
                  <a:pt x="0" y="1483"/>
                </a:lnTo>
                <a:lnTo>
                  <a:pt x="2585" y="0"/>
                </a:lnTo>
                <a:lnTo>
                  <a:pt x="2585" y="2956"/>
                </a:lnTo>
                <a:close/>
              </a:path>
            </a:pathLst>
          </a:custGeom>
          <a:blipFill dpi="0" rotWithShape="1">
            <a:blip r:embed="rId2"/>
            <a:tile tx="-577850" ty="-685800" sx="100000" sy="100000" flip="none" algn="tl"/>
          </a:blipFill>
          <a:ln w="7938" cap="flat">
            <a:solidFill>
              <a:srgbClr val="004475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 flipH="1">
            <a:off x="2616047" y="1411601"/>
            <a:ext cx="5089152" cy="1414869"/>
            <a:chOff x="4392370" y="1791629"/>
            <a:chExt cx="5088898" cy="1414945"/>
          </a:xfrm>
        </p:grpSpPr>
        <p:cxnSp>
          <p:nvCxnSpPr>
            <p:cNvPr id="61" name="直接连接符 60"/>
            <p:cNvCxnSpPr>
              <a:cxnSpLocks/>
            </p:cNvCxnSpPr>
            <p:nvPr/>
          </p:nvCxnSpPr>
          <p:spPr>
            <a:xfrm>
              <a:off x="4818360" y="1791629"/>
              <a:ext cx="4621921" cy="0"/>
            </a:xfrm>
            <a:prstGeom prst="line">
              <a:avLst/>
            </a:prstGeom>
            <a:ln>
              <a:solidFill>
                <a:srgbClr val="004475"/>
              </a:solidFill>
            </a:ln>
          </p:spPr>
          <p:style>
            <a:lnRef idx="1">
              <a:srgbClr val="5B9BD5"/>
            </a:lnRef>
            <a:fillRef idx="0">
              <a:srgbClr val="5B9BD5"/>
            </a:fillRef>
            <a:effectRef idx="0">
              <a:srgbClr val="5B9BD5"/>
            </a:effectRef>
            <a:fontRef idx="minor">
              <a:sysClr val="windowText" lastClr="000000"/>
            </a:fontRef>
          </p:style>
        </p:cxnSp>
        <p:sp>
          <p:nvSpPr>
            <p:cNvPr id="63" name="矩形 62"/>
            <p:cNvSpPr/>
            <p:nvPr/>
          </p:nvSpPr>
          <p:spPr>
            <a:xfrm>
              <a:off x="4392370" y="2006180"/>
              <a:ext cx="5088898" cy="12003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2400" dirty="0"/>
                <a:t>95% </a:t>
              </a:r>
              <a:r>
                <a:rPr lang="zh-CN" altLang="en-US" sz="2400" dirty="0"/>
                <a:t>置信区间宽度较小</a:t>
              </a:r>
              <a:endParaRPr lang="en-US" altLang="zh-CN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2400" dirty="0"/>
                <a:t>Bootstrap </a:t>
              </a:r>
              <a:r>
                <a:rPr lang="zh-CN" altLang="en-US" sz="2400" dirty="0"/>
                <a:t>分布呈单峰、近似对称</a:t>
              </a:r>
              <a:endParaRPr lang="en-US" altLang="zh-CN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 dirty="0"/>
                <a:t>指标均值落在置信区间中心区域</a:t>
              </a:r>
              <a:endParaRPr lang="zh-CN" altLang="en-US" sz="2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 flipH="1">
            <a:off x="3843974" y="3878941"/>
            <a:ext cx="5359401" cy="2259548"/>
            <a:chOff x="2987949" y="3879164"/>
            <a:chExt cx="5359627" cy="2258994"/>
          </a:xfrm>
        </p:grpSpPr>
        <p:cxnSp>
          <p:nvCxnSpPr>
            <p:cNvPr id="65" name="直接连接符 64"/>
            <p:cNvCxnSpPr>
              <a:cxnSpLocks/>
            </p:cNvCxnSpPr>
            <p:nvPr/>
          </p:nvCxnSpPr>
          <p:spPr>
            <a:xfrm>
              <a:off x="4486189" y="4418365"/>
              <a:ext cx="3211965" cy="0"/>
            </a:xfrm>
            <a:prstGeom prst="line">
              <a:avLst/>
            </a:prstGeom>
            <a:ln>
              <a:solidFill>
                <a:srgbClr val="004475"/>
              </a:solidFill>
            </a:ln>
          </p:spPr>
          <p:style>
            <a:lnRef idx="1">
              <a:srgbClr val="5B9BD5"/>
            </a:lnRef>
            <a:fillRef idx="0">
              <a:srgbClr val="5B9BD5"/>
            </a:fillRef>
            <a:effectRef idx="0">
              <a:srgbClr val="5B9BD5"/>
            </a:effectRef>
            <a:fontRef idx="minor">
              <a:sysClr val="windowText" lastClr="000000"/>
            </a:fontRef>
          </p:style>
        </p:cxnSp>
        <p:sp>
          <p:nvSpPr>
            <p:cNvPr id="66" name="矩形 65"/>
            <p:cNvSpPr/>
            <p:nvPr/>
          </p:nvSpPr>
          <p:spPr>
            <a:xfrm>
              <a:off x="4348698" y="3879164"/>
              <a:ext cx="2212427" cy="5230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i="1" dirty="0">
                  <a:latin typeface="Calibri"/>
                  <a:ea typeface="微软雅黑" panose="020B0503020204020204" pitchFamily="34" charset="-122"/>
                </a:rPr>
                <a:t>结   论</a:t>
              </a:r>
            </a:p>
          </p:txBody>
        </p:sp>
        <p:sp>
          <p:nvSpPr>
            <p:cNvPr id="67" name="矩形 66"/>
            <p:cNvSpPr/>
            <p:nvPr/>
          </p:nvSpPr>
          <p:spPr>
            <a:xfrm>
              <a:off x="2987949" y="4568883"/>
              <a:ext cx="5359627" cy="15692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</a:rPr>
                <a:t>Bootstrap </a:t>
              </a:r>
              <a:r>
                <a:rPr lang="zh-CN" altLang="en-US" sz="24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</a:rPr>
                <a:t>结果显示，项目活跃度指标在时间维度上具有较好的统计稳定性，模型对样本扰动不敏感，具备工程可解释性。</a:t>
              </a:r>
              <a:r>
                <a:rPr lang="en-US" altLang="zh-CN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</a:rPr>
                <a:t>.</a:t>
              </a:r>
              <a:endParaRPr lang="zh-CN" altLang="en-US" sz="16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</a:endParaRPr>
            </a:p>
          </p:txBody>
        </p:sp>
      </p:grpSp>
      <p:cxnSp>
        <p:nvCxnSpPr>
          <p:cNvPr id="71" name="直接连接符 70"/>
          <p:cNvCxnSpPr/>
          <p:nvPr/>
        </p:nvCxnSpPr>
        <p:spPr>
          <a:xfrm flipH="1" flipV="1">
            <a:off x="6136640" y="3948430"/>
            <a:ext cx="471805" cy="255905"/>
          </a:xfrm>
          <a:prstGeom prst="line">
            <a:avLst/>
          </a:prstGeom>
          <a:ln>
            <a:solidFill>
              <a:sysClr val="window" lastClr="FFFFFF">
                <a:lumMod val="75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72" name="直接连接符 71"/>
          <p:cNvCxnSpPr/>
          <p:nvPr/>
        </p:nvCxnSpPr>
        <p:spPr>
          <a:xfrm flipH="1" flipV="1">
            <a:off x="4282440" y="2966720"/>
            <a:ext cx="274320" cy="148590"/>
          </a:xfrm>
          <a:prstGeom prst="line">
            <a:avLst/>
          </a:prstGeom>
          <a:ln>
            <a:solidFill>
              <a:sysClr val="window" lastClr="FFFFFF">
                <a:lumMod val="75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80" name="AutoShape 28"/>
          <p:cNvSpPr>
            <a:spLocks noChangeAspect="1" noChangeArrowheads="1" noTextEdit="1"/>
          </p:cNvSpPr>
          <p:nvPr/>
        </p:nvSpPr>
        <p:spPr bwMode="auto">
          <a:xfrm>
            <a:off x="357505" y="50038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35E5BF3E-9E94-73E8-022F-09A7133BA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2DC791D-758D-E2B1-3E59-DAEB15716E80}"/>
              </a:ext>
            </a:extLst>
          </p:cNvPr>
          <p:cNvSpPr txBox="1"/>
          <p:nvPr/>
        </p:nvSpPr>
        <p:spPr>
          <a:xfrm>
            <a:off x="446201" y="419046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05-4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56030E-4434-A132-0A24-E24B8EA8E470}"/>
              </a:ext>
            </a:extLst>
          </p:cNvPr>
          <p:cNvSpPr txBox="1"/>
          <p:nvPr/>
        </p:nvSpPr>
        <p:spPr>
          <a:xfrm>
            <a:off x="1244573" y="310825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实验结果分析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F32CE0-1CF3-DBF7-A2A9-222FDEBBF959}"/>
              </a:ext>
            </a:extLst>
          </p:cNvPr>
          <p:cNvSpPr/>
          <p:nvPr/>
        </p:nvSpPr>
        <p:spPr>
          <a:xfrm flipH="1">
            <a:off x="4133152" y="768272"/>
            <a:ext cx="22123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i="1" dirty="0">
                <a:latin typeface="Calibri"/>
                <a:ea typeface="微软雅黑" panose="020B0503020204020204" pitchFamily="34" charset="-122"/>
              </a:rPr>
              <a:t>稳定判断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832"/>
          <a:stretch>
            <a:fillRect/>
          </a:stretch>
        </p:blipFill>
        <p:spPr>
          <a:xfrm flipH="1">
            <a:off x="4465" y="3615613"/>
            <a:ext cx="12200890" cy="3376930"/>
          </a:xfrm>
        </p:spPr>
      </p:pic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1F979F1C-6DC1-DD5E-9BEA-E246AAE51F8C}"/>
              </a:ext>
            </a:extLst>
          </p:cNvPr>
          <p:cNvSpPr/>
          <p:nvPr/>
        </p:nvSpPr>
        <p:spPr>
          <a:xfrm>
            <a:off x="3016847" y="416687"/>
            <a:ext cx="9323109" cy="4107107"/>
          </a:xfrm>
          <a:prstGeom prst="homePlate">
            <a:avLst/>
          </a:prstGeom>
          <a:solidFill>
            <a:srgbClr val="C6D5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19827486-C351-F6D8-948A-62F0F4C6D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1563" y="45065"/>
            <a:ext cx="1215084" cy="9849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D2C3090-AB66-8531-FA95-1C2CB36ACBB7}"/>
              </a:ext>
            </a:extLst>
          </p:cNvPr>
          <p:cNvSpPr txBox="1"/>
          <p:nvPr/>
        </p:nvSpPr>
        <p:spPr>
          <a:xfrm>
            <a:off x="643306" y="447465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0</a:t>
            </a:r>
            <a:r>
              <a:rPr lang="en-US" altLang="zh-CN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6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3998BB-340B-B210-1E60-AE4A97689C3B}"/>
              </a:ext>
            </a:extLst>
          </p:cNvPr>
          <p:cNvSpPr txBox="1"/>
          <p:nvPr/>
        </p:nvSpPr>
        <p:spPr>
          <a:xfrm>
            <a:off x="1129336" y="416688"/>
            <a:ext cx="24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宋体 CN Heavy" pitchFamily="18" charset="-122"/>
                <a:ea typeface="思源宋体 CN Heavy" pitchFamily="18" charset="-122"/>
              </a:rPr>
              <a:t>不足与展望</a:t>
            </a:r>
          </a:p>
        </p:txBody>
      </p:sp>
      <p:sp>
        <p:nvSpPr>
          <p:cNvPr id="13" name="矩形 12"/>
          <p:cNvSpPr/>
          <p:nvPr/>
        </p:nvSpPr>
        <p:spPr>
          <a:xfrm>
            <a:off x="3263756" y="553477"/>
            <a:ext cx="724339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ea typeface="思源宋体 CN Heavy"/>
              </a:rPr>
              <a:t>（</a:t>
            </a:r>
            <a:r>
              <a:rPr lang="en-US" altLang="zh-CN" sz="2400" b="1" dirty="0">
                <a:ea typeface="思源宋体 CN Heavy"/>
              </a:rPr>
              <a:t>1</a:t>
            </a:r>
            <a:r>
              <a:rPr lang="zh-CN" altLang="en-US" sz="2400" b="1" dirty="0">
                <a:ea typeface="思源宋体 CN Heavy"/>
              </a:rPr>
              <a:t>）模型权重比例准确度不足</a:t>
            </a:r>
            <a:endParaRPr lang="en-US" altLang="zh-CN" sz="2400" b="1" dirty="0">
              <a:ea typeface="思源宋体 CN Heavy"/>
            </a:endParaRPr>
          </a:p>
          <a:p>
            <a:r>
              <a:rPr lang="zh-CN" altLang="en-US" sz="2000" dirty="0"/>
              <a:t>当前健康度模型采用人工设定权重，仍具有一定主观性，具体怎样的权重比例更准确，还需要进一步通过大量数据进行探索。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400" b="1" dirty="0">
                <a:ea typeface="思源宋体 CN Heavy"/>
              </a:rPr>
              <a:t>（</a:t>
            </a:r>
            <a:r>
              <a:rPr lang="en-US" altLang="zh-CN" sz="2400" b="1" dirty="0">
                <a:ea typeface="思源宋体 CN Heavy"/>
              </a:rPr>
              <a:t>2</a:t>
            </a:r>
            <a:r>
              <a:rPr lang="zh-CN" altLang="en-US" sz="2400" b="1" dirty="0">
                <a:ea typeface="思源宋体 CN Heavy"/>
              </a:rPr>
              <a:t>）指标维度单一</a:t>
            </a:r>
            <a:br>
              <a:rPr lang="zh-CN" altLang="en-US" sz="2400" dirty="0">
                <a:ea typeface="思源宋体 CN Heavy"/>
              </a:rPr>
            </a:br>
            <a:r>
              <a:rPr lang="zh-CN" altLang="en-US" sz="2000" dirty="0"/>
              <a:t>指标维度主要集中在行为和社区层面，尚未覆盖代码质量等因素。有一些代码可能质量很高，足额在社区中不够突出，未来还需要参考代码质量或者编程思维这部分。</a:t>
            </a:r>
            <a:endParaRPr lang="en-US" altLang="zh-CN" sz="2000" dirty="0">
              <a:ea typeface="思源宋体 CN Heavy"/>
            </a:endParaRPr>
          </a:p>
          <a:p>
            <a:endParaRPr lang="zh-CN" altLang="en-US" sz="2000" dirty="0">
              <a:ea typeface="思源宋体 CN Heavy"/>
            </a:endParaRPr>
          </a:p>
          <a:p>
            <a:r>
              <a:rPr lang="zh-CN" altLang="en-US" sz="2400" b="1" dirty="0">
                <a:ea typeface="思源宋体 CN Heavy"/>
              </a:rPr>
              <a:t>（</a:t>
            </a:r>
            <a:r>
              <a:rPr lang="en-US" altLang="zh-CN" sz="2400" b="1" dirty="0">
                <a:ea typeface="思源宋体 CN Heavy"/>
              </a:rPr>
              <a:t>3</a:t>
            </a:r>
            <a:r>
              <a:rPr lang="zh-CN" altLang="en-US" sz="2400" b="1" dirty="0">
                <a:ea typeface="思源宋体 CN Heavy"/>
              </a:rPr>
              <a:t>）缺乏自动化解释</a:t>
            </a:r>
            <a:br>
              <a:rPr lang="zh-CN" altLang="en-US" sz="2400" dirty="0">
                <a:ea typeface="思源宋体 CN Heavy"/>
              </a:rPr>
            </a:br>
            <a:r>
              <a:rPr lang="zh-CN" altLang="en-US" sz="2000" dirty="0"/>
              <a:t>分析结果以可视化为主，缺乏自动化解释，这一点可以考虑后期接入</a:t>
            </a:r>
            <a:r>
              <a:rPr lang="en-US" altLang="zh-CN" sz="2000" dirty="0" err="1"/>
              <a:t>MaxKB</a:t>
            </a:r>
            <a:r>
              <a:rPr lang="zh-CN" altLang="en-US" sz="2000" dirty="0"/>
              <a:t>此类</a:t>
            </a:r>
            <a:r>
              <a:rPr lang="en-US" altLang="zh-CN" sz="2000" dirty="0"/>
              <a:t>AI</a:t>
            </a:r>
            <a:r>
              <a:rPr lang="zh-CN" altLang="en-US" sz="2000" dirty="0"/>
              <a:t>，帮助用户分析。</a:t>
            </a:r>
            <a:endParaRPr lang="zh-CN" altLang="en-US" sz="2400" dirty="0">
              <a:ea typeface="思源宋体 CN Heavy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B2B69-0EC8-D020-3969-CBCA6DD66C58}"/>
              </a:ext>
            </a:extLst>
          </p:cNvPr>
          <p:cNvSpPr txBox="1"/>
          <p:nvPr/>
        </p:nvSpPr>
        <p:spPr>
          <a:xfrm>
            <a:off x="556907" y="1358537"/>
            <a:ext cx="1846659" cy="33769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一个完整的数据分析系统，往往需要经历不断迭代和结构优化的过程。未来可以引入更丰富的指标体系和更智能的分析方法，进一步提升健康度评估的准确性和系统实用价值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34" y="1342243"/>
            <a:ext cx="5414365" cy="5336471"/>
          </a:xfrm>
          <a:prstGeom prst="rect">
            <a:avLst/>
          </a:prstGeom>
        </p:spPr>
      </p:pic>
      <p:pic>
        <p:nvPicPr>
          <p:cNvPr id="38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507048"/>
            <a:ext cx="5886450" cy="47720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5281930" y="3155315"/>
            <a:ext cx="298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latin typeface="思源宋体 CN Heavy" pitchFamily="18" charset="-122"/>
                <a:ea typeface="思源宋体 CN Heavy" pitchFamily="18" charset="-122"/>
              </a:rPr>
              <a:t>感谢观看</a:t>
            </a:r>
            <a:endParaRPr lang="en-US" altLang="zh-CN" sz="4800" b="1" dirty="0"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28AE8E-1F74-C4CF-E42D-574932DB0143}"/>
              </a:ext>
            </a:extLst>
          </p:cNvPr>
          <p:cNvSpPr txBox="1"/>
          <p:nvPr/>
        </p:nvSpPr>
        <p:spPr>
          <a:xfrm>
            <a:off x="3404657" y="4490447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2000" b="1" dirty="0">
                <a:effectLst/>
              </a:rPr>
              <a:t>特别致谢：</a:t>
            </a:r>
            <a:r>
              <a:rPr lang="en-US" altLang="zh-CN" sz="2000" b="1" dirty="0" err="1">
                <a:effectLst/>
              </a:rPr>
              <a:t>OpenDigger</a:t>
            </a:r>
            <a:r>
              <a:rPr lang="en-US" altLang="zh-CN" sz="2000" b="1" dirty="0">
                <a:effectLst/>
              </a:rPr>
              <a:t> </a:t>
            </a:r>
            <a:r>
              <a:rPr lang="zh-CN" altLang="en-US" sz="2000" b="1" dirty="0">
                <a:effectLst/>
              </a:rPr>
              <a:t>开源社区</a:t>
            </a:r>
          </a:p>
          <a:p>
            <a:pPr algn="ctr">
              <a:buNone/>
            </a:pPr>
            <a:r>
              <a:rPr lang="zh-CN" altLang="en-US" sz="2000" b="1" dirty="0">
                <a:effectLst/>
              </a:rPr>
              <a:t> 致谢：赛事主办方与各位评委老师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1195</TotalTime>
  <Words>1496</Words>
  <Application>Microsoft Office PowerPoint</Application>
  <PresentationFormat>宽屏</PresentationFormat>
  <Paragraphs>163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等线</vt:lpstr>
      <vt:lpstr>等线 Light</vt:lpstr>
      <vt:lpstr>华文细黑</vt:lpstr>
      <vt:lpstr>思源宋体 CN Heavy</vt:lpstr>
      <vt:lpstr>微软雅黑</vt:lpstr>
      <vt:lpstr>Agency FB</vt:lpstr>
      <vt:lpstr>Arial</vt:lpstr>
      <vt:lpstr>Calibri</vt:lpstr>
      <vt:lpstr>Cambria Math</vt:lpstr>
      <vt:lpstr>Cascadia Code SemiBold</vt:lpstr>
      <vt:lpstr>第一PPT，www.1ppt.com</vt:lpstr>
      <vt:lpstr>1_Office 主题​​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极简商务</dc:title>
  <dc:creator>第一PPT</dc:creator>
  <cp:keywords>www.1ppt.com</cp:keywords>
  <dc:description>www.1ppt.com</dc:description>
  <cp:lastModifiedBy>Winter Deasy</cp:lastModifiedBy>
  <cp:revision>29</cp:revision>
  <dcterms:created xsi:type="dcterms:W3CDTF">2019-12-23T08:37:00Z</dcterms:created>
  <dcterms:modified xsi:type="dcterms:W3CDTF">2026-01-13T14:22:37Z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84C6B3CFDD344F52AC7AAF395B18D943_12</vt:lpwstr>
  </property>
  <property fmtid="{D5CDD505-2E9C-101B-9397-08002B2CF9AE}" pid="3" name="KSOProductBuildVer">
    <vt:lpwstr>2052-12.1.0.23542</vt:lpwstr>
  </property>
  <property fmtid="{D5CDD505-2E9C-101B-9397-08002B2CF9AE}" pid="4" name="KSOTemplateUUID">
    <vt:lpwstr>v1.0_mb_Kpv4xgLZH3LXsTbo+ltTdQ==</vt:lpwstr>
  </property>
</Properties>
</file>